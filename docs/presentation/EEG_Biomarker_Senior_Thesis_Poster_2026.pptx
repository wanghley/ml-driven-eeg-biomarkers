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32918400" cx="43891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hSveCBle5MKSOjwtcyJT3iAgc9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e57653520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ae57653520_2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&quot; x 48&quot; Poster">
  <p:cSld name="36&quot; x 48&quot; Po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"/>
          <p:cNvSpPr txBox="1"/>
          <p:nvPr>
            <p:ph type="title"/>
          </p:nvPr>
        </p:nvSpPr>
        <p:spPr>
          <a:xfrm>
            <a:off x="696686" y="609600"/>
            <a:ext cx="42497700" cy="3352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78350" lIns="156700" spcFirstLastPara="1" rIns="156700" wrap="square" tIns="783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Arial"/>
              <a:buNone/>
              <a:defRPr b="1" i="0" sz="6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8" name="Google Shape;8;p3"/>
          <p:cNvSpPr txBox="1"/>
          <p:nvPr>
            <p:ph idx="1" type="body"/>
          </p:nvPr>
        </p:nvSpPr>
        <p:spPr>
          <a:xfrm>
            <a:off x="696686" y="4267200"/>
            <a:ext cx="13585500" cy="1066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01700" lvl="1" marL="914400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23900" lvl="3" marL="1828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23900" lvl="4" marL="22860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2" type="body"/>
          </p:nvPr>
        </p:nvSpPr>
        <p:spPr>
          <a:xfrm>
            <a:off x="696686" y="5638800"/>
            <a:ext cx="13585500" cy="8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3" type="body"/>
          </p:nvPr>
        </p:nvSpPr>
        <p:spPr>
          <a:xfrm>
            <a:off x="696686" y="14630400"/>
            <a:ext cx="13585500" cy="1066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01700" lvl="1" marL="914400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23900" lvl="3" marL="1828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23900" lvl="4" marL="22860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4" type="body"/>
          </p:nvPr>
        </p:nvSpPr>
        <p:spPr>
          <a:xfrm>
            <a:off x="696686" y="16002000"/>
            <a:ext cx="135855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5" type="body"/>
          </p:nvPr>
        </p:nvSpPr>
        <p:spPr>
          <a:xfrm>
            <a:off x="696686" y="23622000"/>
            <a:ext cx="13585500" cy="1066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01700" lvl="1" marL="914400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23900" lvl="3" marL="1828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23900" lvl="4" marL="22860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6" type="body"/>
          </p:nvPr>
        </p:nvSpPr>
        <p:spPr>
          <a:xfrm>
            <a:off x="696686" y="24993600"/>
            <a:ext cx="135855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7" type="body"/>
          </p:nvPr>
        </p:nvSpPr>
        <p:spPr>
          <a:xfrm>
            <a:off x="15152916" y="4267200"/>
            <a:ext cx="13585500" cy="1066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01700" lvl="1" marL="914400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23900" lvl="3" marL="1828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23900" lvl="4" marL="22860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8" type="body"/>
          </p:nvPr>
        </p:nvSpPr>
        <p:spPr>
          <a:xfrm>
            <a:off x="29609144" y="24993600"/>
            <a:ext cx="135855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9" type="body"/>
          </p:nvPr>
        </p:nvSpPr>
        <p:spPr>
          <a:xfrm>
            <a:off x="29609144" y="4267200"/>
            <a:ext cx="13585500" cy="1066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01700" lvl="1" marL="914400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23900" lvl="3" marL="1828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23900" lvl="4" marL="22860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3" type="body"/>
          </p:nvPr>
        </p:nvSpPr>
        <p:spPr>
          <a:xfrm>
            <a:off x="29609144" y="5638800"/>
            <a:ext cx="13585500" cy="176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4" type="body"/>
          </p:nvPr>
        </p:nvSpPr>
        <p:spPr>
          <a:xfrm>
            <a:off x="29609144" y="23622000"/>
            <a:ext cx="13585500" cy="1066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01700" lvl="1" marL="914400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23900" lvl="3" marL="1828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23900" lvl="4" marL="22860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5" type="body"/>
          </p:nvPr>
        </p:nvSpPr>
        <p:spPr>
          <a:xfrm>
            <a:off x="15152916" y="5638800"/>
            <a:ext cx="13585500" cy="26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3"/>
          <p:cNvSpPr/>
          <p:nvPr>
            <p:ph idx="16" type="pic"/>
          </p:nvPr>
        </p:nvSpPr>
        <p:spPr>
          <a:xfrm>
            <a:off x="1219204" y="914400"/>
            <a:ext cx="3135000" cy="2743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1" name="Google Shape;21;p3"/>
          <p:cNvSpPr/>
          <p:nvPr>
            <p:ph idx="17" type="pic"/>
          </p:nvPr>
        </p:nvSpPr>
        <p:spPr>
          <a:xfrm>
            <a:off x="39711090" y="914400"/>
            <a:ext cx="3135000" cy="2743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" name="Google Shape;22;p3"/>
          <p:cNvSpPr/>
          <p:nvPr>
            <p:ph idx="18" type="chart"/>
          </p:nvPr>
        </p:nvSpPr>
        <p:spPr>
          <a:xfrm>
            <a:off x="16197948" y="16154400"/>
            <a:ext cx="114954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lv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3"/>
          <p:cNvSpPr/>
          <p:nvPr>
            <p:ph idx="19" type="chart"/>
          </p:nvPr>
        </p:nvSpPr>
        <p:spPr>
          <a:xfrm>
            <a:off x="16197948" y="24536400"/>
            <a:ext cx="114954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lv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pic>
        <p:nvPicPr>
          <p:cNvPr descr="Logo.jpg" id="24" name="Google Shape;2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538400" y="32416772"/>
            <a:ext cx="2743200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10" Type="http://schemas.openxmlformats.org/officeDocument/2006/relationships/image" Target="../media/image1.jpg"/><Relationship Id="rId11" Type="http://schemas.openxmlformats.org/officeDocument/2006/relationships/image" Target="../media/fig1_psd_spectrum.png"/><Relationship Id="rId12" Type="http://schemas.openxmlformats.org/officeDocument/2006/relationships/image" Target="../media/fig2_harmonic_bars.png"/><Relationship Id="rId13" Type="http://schemas.openxmlformats.org/officeDocument/2006/relationships/image" Target="../media/fig3_band_heatmap.png"/><Relationship Id="rId14" Type="http://schemas.openxmlformats.org/officeDocument/2006/relationships/image" Target="../media/fig4_radar.png"/><Relationship Id="rId15" Type="http://schemas.openxmlformats.org/officeDocument/2006/relationships/image" Target="../media/fig5_topomaps.png"/><Relationship Id="rId16" Type="http://schemas.openxmlformats.org/officeDocument/2006/relationships/image" Target="../media/fig6_time_domain.png"/><Relationship Id="rId17" Type="http://schemas.openxmlformats.org/officeDocument/2006/relationships/image" Target="../media/fig7_scorecard.png"/><Relationship Id="rId18" Type="http://schemas.openxmlformats.org/officeDocument/2006/relationships/image" Target="../media/fig9_frontie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Bar"/>
          <p:cNvSpPr>
            <a:spLocks noGrp="1"/>
          </p:cNvSpPr>
          <p:nvPr/>
        </p:nvSpPr>
        <p:spPr>
          <a:xfrm>
            <a:off x="0" y="0"/>
            <a:ext cx="43891200" cy="3200000"/>
          </a:xfrm>
          <a:prstGeom prst="rect">
            <a:avLst/>
          </a:prstGeom>
          <a:solidFill>
            <a:srgbClr val="093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AccentStripe"/>
          <p:cNvSpPr>
            <a:spLocks noGrp="1"/>
          </p:cNvSpPr>
          <p:nvPr/>
        </p:nvSpPr>
        <p:spPr>
          <a:xfrm>
            <a:off x="0" y="3200000"/>
            <a:ext cx="43891200" cy="180000"/>
          </a:xfrm>
          <a:prstGeom prst="rect">
            <a:avLst/>
          </a:prstGeom>
          <a:solidFill>
            <a:srgbClr val="1A4BA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Bar"/>
          <p:cNvSpPr>
            <a:spLocks noGrp="1"/>
          </p:cNvSpPr>
          <p:nvPr/>
        </p:nvSpPr>
        <p:spPr>
          <a:xfrm>
            <a:off x="0" y="31918400"/>
            <a:ext cx="43891200" cy="1000000"/>
          </a:xfrm>
          <a:prstGeom prst="rect">
            <a:avLst/>
          </a:prstGeom>
          <a:solidFill>
            <a:srgbClr val="09306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6" name="Duke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000" y="300000"/>
            <a:ext cx="4200000" cy="2200000"/>
          </a:xfrm>
          <a:prstGeom prst="rect">
            <a:avLst/>
          </a:prstGeom>
        </p:spPr>
      </p:pic>
      <p:sp>
        <p:nvSpPr>
          <p:cNvPr id="7" name="MainTitle"/>
          <p:cNvSpPr txBox="1"/>
          <p:nvPr/>
        </p:nvSpPr>
        <p:spPr>
          <a:xfrm>
            <a:off x="5000000" y="250000"/>
            <a:ext cx="34000000" cy="1700000"/>
          </a:xfrm>
          <a:prstGeom prst="rect">
            <a:avLst/>
          </a:prstGeom>
          <a:noFill/>
          <a:ln>
            <a:noFill/>
          </a:ln>
        </p:spPr>
        <p:txBody>
          <a:bodyPr anchorCtr="1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FFFFFF"/>
                </a:solidFill>
                <a:latin typeface="Georgia"/>
              </a:rPr>
              <a:t>ML-Driven EEG Biomarker Extraction via Multi-Method DBS Artifact Removal</a:t>
            </a:r>
          </a:p>
        </p:txBody>
      </p:sp>
      <p:sp>
        <p:nvSpPr>
          <p:cNvPr id="8" name="Authors"/>
          <p:cNvSpPr txBox="1"/>
          <p:nvPr/>
        </p:nvSpPr>
        <p:spPr>
          <a:xfrm>
            <a:off x="5000000" y="1950000"/>
            <a:ext cx="340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CADCFC"/>
                </a:solidFill>
                <a:latin typeface="Calibri"/>
              </a:rPr>
              <a:t>Wanghley Soares Martins</a:t>
            </a:r>
            <a:r>
              <a:rPr lang="en-US" sz="3000">
                <a:solidFill>
                  <a:srgbClr val="CADCFC"/>
                </a:solidFill>
                <a:latin typeface="Calibri"/>
              </a:rPr>
              <a:t xml:space="preserve">  |  Department of Electrical &amp; Computer Engineering, Pratt School of Engineering, Duke University  |  Senior Thesis, Spring 2026</a:t>
            </a:r>
          </a:p>
        </p:txBody>
      </p:sp>
      <p:sp>
        <p:nvSpPr>
          <p:cNvPr id="10" name="Hdr_Intro"/>
          <p:cNvSpPr txBox="1"/>
          <p:nvPr/>
        </p:nvSpPr>
        <p:spPr>
          <a:xfrm>
            <a:off x="400000" y="3600000"/>
            <a:ext cx="13400000" cy="720000"/>
          </a:xfrm>
          <a:prstGeom prst="rect">
            <a:avLst/>
          </a:prstGeom>
          <a:solidFill>
            <a:srgbClr val="1A4BA9"/>
          </a:solidFill>
          <a:ln>
            <a:noFill/>
          </a:ln>
        </p:spPr>
        <p:txBody>
          <a:bodyPr anchorCtr="1" anchor="ctr" lIns="200000" rIns="100000" tIns="0" bIns="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Georgia"/>
              </a:rPr>
              <a:t>Introduction</a:t>
            </a:r>
          </a:p>
        </p:txBody>
      </p:sp>
      <p:sp>
        <p:nvSpPr>
          <p:cNvPr id="11" name="Body_Intro"/>
          <p:cNvSpPr txBox="1"/>
          <p:nvPr/>
        </p:nvSpPr>
        <p:spPr>
          <a:xfrm>
            <a:off x="400000" y="4380000"/>
            <a:ext cx="13400000" cy="4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</a:ln>
        </p:spPr>
        <p:txBody>
          <a:bodyPr anchorCtr="0" anchor="t" lIns="200000" rIns="200000" tIns="150000" bIns="150000" wrap="square">
            <a:noAutofit/>
          </a:bodyPr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400">
                <a:solidFill>
                  <a:srgbClr val="1F1F1F"/>
                </a:solidFill>
                <a:latin typeface="Calibri"/>
              </a:rPr>
              <a:t>Deep Brain Stimulation (DBS) generates powerful oscillatory artifacts at its stimulation frequency and harmonics, contaminating concurrently recorded EEG signals. These artifacts — spanning Delta through Gamma bands — obscure clinically relevant biomarkers, making accurate neurological state classification impossible without rigorous preprocessing.</a:t>
            </a:r>
          </a:p>
          <a:p>
            <a:pPr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9306B"/>
                </a:solidFill>
                <a:latin typeface="Calibri"/>
              </a:rPr>
              <a:t xml:space="preserve">Core Challenge: </a:t>
            </a:r>
            <a:r>
              <a:rPr lang="en-US" sz="2400">
                <a:solidFill>
                  <a:srgbClr val="1F1F1F"/>
                </a:solidFill>
                <a:latin typeface="Calibri"/>
              </a:rPr>
              <a:t>Standard notch filters provide only ~10–20 dB attenuation and irrecoverably destroy endogenous brain oscillations co-located with DBS harmonics (e.g., theta at 7 Hz, beta at 14 Hz).</a:t>
            </a:r>
          </a:p>
          <a:p>
            <a:pPr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9306B"/>
                </a:solidFill>
                <a:latin typeface="Calibri"/>
              </a:rPr>
              <a:t xml:space="preserve">This Work: </a:t>
            </a:r>
            <a:r>
              <a:rPr lang="en-US" sz="2400">
                <a:solidFill>
                  <a:srgbClr val="1F1F1F"/>
                </a:solidFill>
                <a:latin typeface="Calibri"/>
              </a:rPr>
              <a:t>We benchmark 5 advanced artifact-removal methods and extract spectral biomarkers (PSD, band power, topomaps) from de-identified clinical EDF recordings (DBS at 7 Hz, 60 Hz, 100 Hz) using a modular MNE-Python pipeline with Dagster orchestration.</a:t>
            </a:r>
          </a:p>
        </p:txBody>
      </p:sp>
      <p:sp>
        <p:nvSpPr>
          <p:cNvPr id="12" name="Hdr_Obj"/>
          <p:cNvSpPr txBox="1"/>
          <p:nvPr/>
        </p:nvSpPr>
        <p:spPr>
          <a:xfrm>
            <a:off x="400000" y="9180000"/>
            <a:ext cx="13400000" cy="720000"/>
          </a:xfrm>
          <a:prstGeom prst="rect">
            <a:avLst/>
          </a:prstGeom>
          <a:solidFill>
            <a:srgbClr val="1A4BA9"/>
          </a:solidFill>
          <a:ln>
            <a:noFill/>
          </a:ln>
        </p:spPr>
        <p:txBody>
          <a:bodyPr anchorCtr="1" anchor="ctr" lIns="200000" rIns="100000" tIns="0" bIns="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Georgia"/>
              </a:rPr>
              <a:t>Objectives</a:t>
            </a:r>
          </a:p>
        </p:txBody>
      </p:sp>
      <p:sp>
        <p:nvSpPr>
          <p:cNvPr id="13" name="Body_Obj"/>
          <p:cNvSpPr txBox="1"/>
          <p:nvPr/>
        </p:nvSpPr>
        <p:spPr>
          <a:xfrm>
            <a:off x="400000" y="9960000"/>
            <a:ext cx="13400000" cy="3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</a:ln>
        </p:spPr>
        <p:txBody>
          <a:bodyPr anchorCtr="0" anchor="t" lIns="200000" rIns="200000" tIns="150000" bIns="150000" wrap="square">
            <a:noAutofit/>
          </a:bodyPr>
          <a:lstStyle/>
          <a:p>
            <a:pPr indent="-380000" marL="38000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▶"/>
            </a:pPr>
            <a:r>
              <a:rPr lang="en-US" sz="2400" b="1">
                <a:solidFill>
                  <a:srgbClr val="09306B"/>
                </a:solidFill>
                <a:latin typeface="Calibri"/>
              </a:rPr>
              <a:t>Quantify attenuation</a:t>
            </a:r>
            <a:r>
              <a:rPr lang="en-US" sz="2400">
                <a:solidFill>
                  <a:srgbClr val="1F1F1F"/>
                </a:solidFill>
                <a:latin typeface="Calibri"/>
              </a:rPr>
              <a:t xml:space="preserve"> of DBS harmonics (7/14/21... Hz) across 5 methods, targeting ≥40 dB suppression</a:t>
            </a:r>
          </a:p>
          <a:p>
            <a:pPr indent="-380000" marL="38000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▶"/>
            </a:pPr>
            <a:r>
              <a:rPr lang="en-US" sz="2400" b="1">
                <a:solidFill>
                  <a:srgbClr val="09306B"/>
                </a:solidFill>
                <a:latin typeface="Calibri"/>
              </a:rPr>
              <a:t>Preserve broadband neural content</a:t>
            </a:r>
            <a:r>
              <a:rPr lang="en-US" sz="2400">
                <a:solidFill>
                  <a:srgbClr val="1F1F1F"/>
                </a:solidFill>
                <a:latin typeface="Calibri"/>
              </a:rPr>
              <a:t xml:space="preserve"> (Delta, Theta, Alpha, Beta, Gamma) via band-power retention (%)</a:t>
            </a:r>
          </a:p>
          <a:p>
            <a:pPr indent="-380000" marL="38000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▶"/>
            </a:pPr>
            <a:r>
              <a:rPr lang="en-US" sz="2400" b="1">
                <a:solidFill>
                  <a:srgbClr val="09306B"/>
                </a:solidFill>
                <a:latin typeface="Calibri"/>
              </a:rPr>
              <a:t>Extract spectral biomarkers</a:t>
            </a:r>
            <a:r>
              <a:rPr lang="en-US" sz="2400">
                <a:solidFill>
                  <a:srgbClr val="1F1F1F"/>
                </a:solidFill>
                <a:latin typeface="Calibri"/>
              </a:rPr>
              <a:t xml:space="preserve"> (PSD via Welch, topographic band-power maps) distinguishing awake vs. sleep states</a:t>
            </a:r>
          </a:p>
          <a:p>
            <a:pPr indent="-380000" marL="38000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▶"/>
            </a:pPr>
            <a:r>
              <a:rPr lang="en-US" sz="2400" b="1">
                <a:solidFill>
                  <a:srgbClr val="09306B"/>
                </a:solidFill>
                <a:latin typeface="Calibri"/>
              </a:rPr>
              <a:t>Benchmark runtime vs. quality</a:t>
            </a:r>
            <a:r>
              <a:rPr lang="en-US" sz="2400">
                <a:solidFill>
                  <a:srgbClr val="1F1F1F"/>
                </a:solidFill>
                <a:latin typeface="Calibri"/>
              </a:rPr>
              <a:t xml:space="preserve"> trade-offs to recommend a clinically deployable pipeline configuration</a:t>
            </a:r>
          </a:p>
        </p:txBody>
      </p:sp>
      <p:sp>
        <p:nvSpPr>
          <p:cNvPr id="14" name="Hdr_Methods"/>
          <p:cNvSpPr txBox="1"/>
          <p:nvPr/>
        </p:nvSpPr>
        <p:spPr>
          <a:xfrm>
            <a:off x="400000" y="13760000"/>
            <a:ext cx="13400000" cy="720000"/>
          </a:xfrm>
          <a:prstGeom prst="rect">
            <a:avLst/>
          </a:prstGeom>
          <a:solidFill>
            <a:srgbClr val="1A4BA9"/>
          </a:solidFill>
          <a:ln>
            <a:noFill/>
          </a:ln>
        </p:spPr>
        <p:txBody>
          <a:bodyPr anchorCtr="1" anchor="ctr" lIns="200000" rIns="100000" tIns="0" bIns="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Georgia"/>
              </a:rPr>
              <a:t>Methods: DBS Artifact Removal</a:t>
            </a:r>
          </a:p>
        </p:txBody>
      </p:sp>
      <p:sp>
        <p:nvSpPr>
          <p:cNvPr id="15" name="Body_Methods"/>
          <p:cNvSpPr txBox="1"/>
          <p:nvPr/>
        </p:nvSpPr>
        <p:spPr>
          <a:xfrm>
            <a:off x="400000" y="14540000"/>
            <a:ext cx="13400000" cy="9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</a:ln>
        </p:spPr>
        <p:txBody>
          <a:bodyPr anchorCtr="0" anchor="t" lIns="200000" rIns="200000" tIns="150000" bIns="15000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600" b="1">
                <a:solidFill>
                  <a:srgbClr val="09306B"/>
                </a:solidFill>
                <a:latin typeface="Calibri"/>
              </a:rPr>
              <a:t>1. Spectrum-Fit Multi-Harmonic Removal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>
                <a:solidFill>
                  <a:srgbClr val="1F1F1F"/>
                </a:solidFill>
                <a:latin typeface="Calibri"/>
              </a:rPr>
              <a:t>STFT-based frequency-domain gain mask with cosine taper at harmonic band edges. Tunable attenuation: −30 to −100 dB. Bandwidth: 2.0 Hz; f₀ auto-detected from filename.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2600" b="1">
                <a:solidFill>
                  <a:srgbClr val="09306B"/>
                </a:solidFill>
                <a:latin typeface="Calibri"/>
              </a:rPr>
              <a:t>2. Zapline+ (Chen et al., 2022)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>
                <a:solidFill>
                  <a:srgbClr val="1F1F1F"/>
                </a:solidFill>
                <a:latin typeface="Calibri"/>
              </a:rPr>
              <a:t>Spectro-spatial decomposition via eigendecomposition of per-harmonic covariance matrix across channels. Projects and scales artifact subspace. n_harmonics=10; threshold_percentile=95.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2600" b="1">
                <a:solidFill>
                  <a:srgbClr val="09306B"/>
                </a:solidFill>
                <a:latin typeface="Calibri"/>
              </a:rPr>
              <a:t>3. Freq-Domain Hampel (Allen et al., 2010)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>
                <a:solidFill>
                  <a:srgbClr val="1F1F1F"/>
                </a:solidFill>
                <a:latin typeface="Calibri"/>
              </a:rPr>
              <a:t>Rolling-median MAD outlier detection on FFT magnitude spectrum. Scales peak magnitudes to target attenuation while preserving phase. window=2 Hz; nσ=3; attenuation=−60 dB.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2600" b="1">
                <a:solidFill>
                  <a:srgbClr val="09306B"/>
                </a:solidFill>
                <a:latin typeface="Calibri"/>
              </a:rPr>
              <a:t>4. Time-Domain Hampel (Allen et al., 2010)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>
                <a:solidFill>
                  <a:srgbClr val="1F1F1F"/>
                </a:solidFill>
                <a:latin typeface="Calibri"/>
              </a:rPr>
              <a:t>Rolling median + MAD in time domain; replaces outlier samples (&gt;3σ) with local median. Excellent broadband preservation. window=0.2 s; multi-pass via attenuation_factor.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2600" b="1">
                <a:solidFill>
                  <a:srgbClr val="09306B"/>
                </a:solidFill>
                <a:latin typeface="Calibri"/>
              </a:rPr>
              <a:t>5. Baseline-Referenced Wiener Filter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1F1F"/>
                </a:solidFill>
                <a:latin typeface="Calibri"/>
              </a:rPr>
              <a:t>Frequency-dependent Wiener gain mask built from pre-DBS baseline PSD. Removes only excess power above baseline; optimal brain-activity preservation. α=1.5; floor=−40 dB.</a:t>
            </a:r>
          </a:p>
        </p:txBody>
      </p:sp>
      <p:sp>
        <p:nvSpPr>
          <p:cNvPr id="16" name="References"/>
          <p:cNvSpPr txBox="1"/>
          <p:nvPr/>
        </p:nvSpPr>
        <p:spPr>
          <a:xfrm>
            <a:off x="400000" y="30700000"/>
            <a:ext cx="134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lIns="0" rIns="0" tIns="0" bIns="0" wrap="square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9306B"/>
                </a:solidFill>
                <a:latin typeface="Calibri"/>
              </a:rPr>
              <a:t xml:space="preserve">References: </a:t>
            </a:r>
            <a:r>
              <a:rPr lang="en-US" sz="1600">
                <a:solidFill>
                  <a:srgbClr val="444444"/>
                </a:solidFill>
                <a:latin typeface="Calibri"/>
              </a:rPr>
              <a:t>Allen DP et al. (2010) IEEE Trans Neurosci. | Chen X et al. (2022) NeuroImage [Zapline+]. | Wiener N. (1949) MIT Press. | MNE-Python v1.10 | Gramfort A et al. (2013) Front. Neurosci.</a:t>
            </a:r>
          </a:p>
        </p:txBody>
      </p:sp>
      <p:sp>
        <p:nvSpPr>
          <p:cNvPr id="20" name="Hdr_Pipeline"/>
          <p:cNvSpPr txBox="1"/>
          <p:nvPr/>
        </p:nvSpPr>
        <p:spPr>
          <a:xfrm>
            <a:off x="14200000" y="3600000"/>
            <a:ext cx="15000000" cy="720000"/>
          </a:xfrm>
          <a:prstGeom prst="rect">
            <a:avLst/>
          </a:prstGeom>
          <a:solidFill>
            <a:srgbClr val="1A4BA9"/>
          </a:solidFill>
          <a:ln>
            <a:noFill/>
          </a:ln>
        </p:spPr>
        <p:txBody>
          <a:bodyPr anchorCtr="1" anchor="ctr" lIns="200000" rIns="100000" tIns="0" bIns="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Georgia"/>
              </a:rPr>
              <a:t>Processing Pipeline</a:t>
            </a:r>
          </a:p>
        </p:txBody>
      </p:sp>
      <p:sp>
        <p:nvSpPr>
          <p:cNvPr id="21" name="Stage1"/>
          <p:cNvSpPr txBox="1"/>
          <p:nvPr/>
        </p:nvSpPr>
        <p:spPr>
          <a:xfrm>
            <a:off x="14400000" y="4550000"/>
            <a:ext cx="14600000" cy="820000"/>
          </a:xfrm>
          <a:prstGeom prst="roundRect">
            <a:avLst>
              <a:gd name="adj" fmla="val 20000"/>
            </a:avLst>
          </a:prstGeom>
          <a:solidFill>
            <a:srgbClr val="09306B"/>
          </a:solidFill>
          <a:ln w="19050">
            <a:solidFill>
              <a:srgbClr val="CADCFC"/>
            </a:solidFill>
          </a:ln>
        </p:spPr>
        <p:txBody>
          <a:bodyPr anchorCtr="1" anchor="ctr" lIns="200000" rIns="20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1. DATA INGESTION</a:t>
            </a:r>
            <a:r>
              <a:rPr lang="en-US" sz="2200">
                <a:solidFill>
                  <a:srgbClr val="CADCFC"/>
                </a:solidFill>
                <a:latin typeface="Calibri"/>
              </a:rPr>
              <a:t xml:space="preserve">  |  EDF/EDF+ → mne.io.read_raw_edf  |  10-20 montage standardization</a:t>
            </a:r>
          </a:p>
        </p:txBody>
      </p:sp>
      <p:sp>
        <p:nvSpPr>
          <p:cNvPr id="22" name="Arrow1"/>
          <p:cNvSpPr txBox="1"/>
          <p:nvPr/>
        </p:nvSpPr>
        <p:spPr>
          <a:xfrm>
            <a:off x="21200000" y="5420000"/>
            <a:ext cx="800000" cy="5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A4BA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tage2"/>
          <p:cNvSpPr txBox="1"/>
          <p:nvPr/>
        </p:nvSpPr>
        <p:spPr>
          <a:xfrm>
            <a:off x="14400000" y="5970000"/>
            <a:ext cx="14600000" cy="820000"/>
          </a:xfrm>
          <a:prstGeom prst="roundRect">
            <a:avLst>
              <a:gd name="adj" fmla="val 20000"/>
            </a:avLst>
          </a:prstGeom>
          <a:solidFill>
            <a:srgbClr val="1A4BA9"/>
          </a:solidFill>
          <a:ln w="19050">
            <a:solidFill>
              <a:srgbClr val="CADCFC"/>
            </a:solidFill>
          </a:ln>
        </p:spPr>
        <p:txBody>
          <a:bodyPr anchorCtr="1" anchor="ctr" lIns="200000" rIns="20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2. CLINICAL FILTERING</a:t>
            </a:r>
            <a:r>
              <a:rPr lang="en-US" sz="2200">
                <a:solidFill>
                  <a:srgbClr val="CADCFC"/>
                </a:solidFill>
                <a:latin typeface="Calibri"/>
              </a:rPr>
              <a:t xml:space="preserve">  |  Zero-phase FIR bandpass: 1–110 Hz  |  Nyquist-limited cutoff</a:t>
            </a:r>
          </a:p>
        </p:txBody>
      </p:sp>
      <p:sp>
        <p:nvSpPr>
          <p:cNvPr id="24" name="Arrow2"/>
          <p:cNvSpPr txBox="1"/>
          <p:nvPr/>
        </p:nvSpPr>
        <p:spPr>
          <a:xfrm>
            <a:off x="21200000" y="6840000"/>
            <a:ext cx="800000" cy="5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A4BA9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tage3"/>
          <p:cNvSpPr txBox="1"/>
          <p:nvPr/>
        </p:nvSpPr>
        <p:spPr>
          <a:xfrm>
            <a:off x="14400000" y="7390000"/>
            <a:ext cx="14600000" cy="100000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38100">
            <a:solidFill>
              <a:srgbClr val="FFFFFF"/>
            </a:solidFill>
          </a:ln>
        </p:spPr>
        <p:txBody>
          <a:bodyPr anchorCtr="1" anchor="ctr" lIns="200000" rIns="20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</a:rPr>
              <a:t>★ 3. DBS ARTIFACT REMOVAL ★</a:t>
            </a:r>
            <a:r>
              <a:rPr lang="en-US" sz="2200">
                <a:solidFill>
                  <a:srgbClr val="FFD6D6"/>
                </a:solidFill>
                <a:latin typeface="Calibri"/>
              </a:rPr>
              <a:t xml:space="preserve">  Spectrum-Fit | Zapline+ | Hampel-Freq | Hampel-Time | Wiener</a:t>
            </a:r>
          </a:p>
        </p:txBody>
      </p:sp>
      <p:sp>
        <p:nvSpPr>
          <p:cNvPr id="26" name="Arrow3"/>
          <p:cNvSpPr txBox="1"/>
          <p:nvPr/>
        </p:nvSpPr>
        <p:spPr>
          <a:xfrm>
            <a:off x="21200000" y="8440000"/>
            <a:ext cx="800000" cy="5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A4BA9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tage4"/>
          <p:cNvSpPr txBox="1"/>
          <p:nvPr/>
        </p:nvSpPr>
        <p:spPr>
          <a:xfrm>
            <a:off x="14400000" y="8990000"/>
            <a:ext cx="14600000" cy="820000"/>
          </a:xfrm>
          <a:prstGeom prst="roundRect">
            <a:avLst>
              <a:gd name="adj" fmla="val 20000"/>
            </a:avLst>
          </a:prstGeom>
          <a:solidFill>
            <a:srgbClr val="1A4BA9"/>
          </a:solidFill>
          <a:ln w="19050">
            <a:solidFill>
              <a:srgbClr val="CADCFC"/>
            </a:solidFill>
          </a:ln>
        </p:spPr>
        <p:txBody>
          <a:bodyPr anchorCtr="1" anchor="ctr" lIns="200000" rIns="20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4. ICA OCULAR/MUSCLE REJECTION</a:t>
            </a:r>
            <a:r>
              <a:rPr lang="en-US" sz="2200">
                <a:solidFill>
                  <a:srgbClr val="CADCFC"/>
                </a:solidFill>
                <a:latin typeface="Calibri"/>
              </a:rPr>
              <a:t xml:space="preserve">  |  EOG-correlated component removal  |  19-channel 10-20 system</a:t>
            </a:r>
          </a:p>
        </p:txBody>
      </p:sp>
      <p:sp>
        <p:nvSpPr>
          <p:cNvPr id="28" name="Arrow4"/>
          <p:cNvSpPr txBox="1"/>
          <p:nvPr/>
        </p:nvSpPr>
        <p:spPr>
          <a:xfrm>
            <a:off x="21200000" y="9860000"/>
            <a:ext cx="800000" cy="5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A4BA9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tage5"/>
          <p:cNvSpPr txBox="1"/>
          <p:nvPr/>
        </p:nvSpPr>
        <p:spPr>
          <a:xfrm>
            <a:off x="14400000" y="10410000"/>
            <a:ext cx="14600000" cy="820000"/>
          </a:xfrm>
          <a:prstGeom prst="roundRect">
            <a:avLst>
              <a:gd name="adj" fmla="val 20000"/>
            </a:avLst>
          </a:prstGeom>
          <a:solidFill>
            <a:srgbClr val="1A4BA9"/>
          </a:solidFill>
          <a:ln w="19050">
            <a:solidFill>
              <a:srgbClr val="CADCFC"/>
            </a:solidFill>
          </a:ln>
        </p:spPr>
        <p:txBody>
          <a:bodyPr anchorCtr="1" anchor="ctr" lIns="200000" rIns="20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5. BIOMARKER EXTRACTION</a:t>
            </a:r>
            <a:r>
              <a:rPr lang="en-US" sz="2200">
                <a:solidFill>
                  <a:srgbClr val="CADCFC"/>
                </a:solidFill>
                <a:latin typeface="Calibri"/>
              </a:rPr>
              <a:t xml:space="preserve">  PSD (Welch)  |  Band Power (Simpson)  |  Topomaps</a:t>
            </a:r>
          </a:p>
        </p:txBody>
      </p:sp>
      <p:sp>
        <p:nvSpPr>
          <p:cNvPr id="30" name="Arrow5"/>
          <p:cNvSpPr txBox="1"/>
          <p:nvPr/>
        </p:nvSpPr>
        <p:spPr>
          <a:xfrm>
            <a:off x="21200000" y="11280000"/>
            <a:ext cx="800000" cy="5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A4BA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tage6"/>
          <p:cNvSpPr txBox="1"/>
          <p:nvPr/>
        </p:nvSpPr>
        <p:spPr>
          <a:xfrm>
            <a:off x="14400000" y="11830000"/>
            <a:ext cx="14600000" cy="8200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9050">
            <a:solidFill>
              <a:srgbClr val="CADCFC"/>
            </a:solidFill>
          </a:ln>
        </p:spPr>
        <p:txBody>
          <a:bodyPr anchorCtr="1" anchor="ctr" lIns="200000" rIns="20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6. ML CLASSIFICATION (Future)</a:t>
            </a:r>
            <a:r>
              <a:rPr lang="en-US" sz="2200">
                <a:solidFill>
                  <a:srgbClr val="CADCFC"/>
                </a:solidFill>
                <a:latin typeface="Calibri"/>
              </a:rPr>
              <a:t xml:space="preserve">  EEGNet / RandomForest  |  Awake vs. Sleep detection</a:t>
            </a:r>
          </a:p>
        </p:txBody>
      </p:sp>
      <p:sp>
        <p:nvSpPr>
          <p:cNvPr id="32" name="FigCaption1"/>
          <p:cNvSpPr txBox="1"/>
          <p:nvPr/>
        </p:nvSpPr>
        <p:spPr>
          <a:xfrm>
            <a:off x="14400000" y="13200000"/>
            <a:ext cx="14600000" cy="500000"/>
          </a:xfrm>
          <a:prstGeom prst="rect">
            <a:avLst/>
          </a:prstGeom>
          <a:solidFill>
            <a:srgbClr val="1A4BA9"/>
          </a:solidFill>
          <a:ln>
            <a:noFill/>
          </a:ln>
        </p:spPr>
        <p:txBody>
          <a:bodyPr anchorCtr="1" anchor="ctr" lIns="150000" rIns="15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Fig. 1 — PSD Full Spectrum: All Methods vs. Raw (Awake, 7 Hz DBS)</a:t>
            </a:r>
          </a:p>
        </p:txBody>
      </p:sp>
      <p:pic>
        <p:nvPicPr>
          <p:cNvPr id="33" name="Fig1_PS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0000" y="13750000"/>
            <a:ext cx="14600000" cy="8800000"/>
          </a:xfrm>
          <a:prstGeom prst="rect">
            <a:avLst/>
          </a:prstGeom>
          <a:ln w="12700">
            <a:solidFill>
              <a:srgbClr val="E0E8F5"/>
            </a:solidFill>
          </a:ln>
        </p:spPr>
      </p:pic>
      <p:sp>
        <p:nvSpPr>
          <p:cNvPr id="34" name="FigCaption2"/>
          <p:cNvSpPr txBox="1"/>
          <p:nvPr/>
        </p:nvSpPr>
        <p:spPr>
          <a:xfrm>
            <a:off x="14400000" y="22800000"/>
            <a:ext cx="14600000" cy="500000"/>
          </a:xfrm>
          <a:prstGeom prst="rect">
            <a:avLst/>
          </a:prstGeom>
          <a:solidFill>
            <a:srgbClr val="1A4BA9"/>
          </a:solidFill>
          <a:ln>
            <a:noFill/>
          </a:ln>
        </p:spPr>
        <p:txBody>
          <a:bodyPr anchorCtr="1" anchor="ctr" lIns="150000" rIns="15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Fig. 2 — Topographic Band-Power Maps: Delta/Theta/Alpha/Beta/Gamma (Real Data)</a:t>
            </a:r>
          </a:p>
        </p:txBody>
      </p:sp>
      <p:pic>
        <p:nvPicPr>
          <p:cNvPr id="35" name="Fig2_Topomaps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400000" y="23350000"/>
            <a:ext cx="14600000" cy="7300000"/>
          </a:xfrm>
          <a:prstGeom prst="rect">
            <a:avLst/>
          </a:prstGeom>
          <a:ln w="12700">
            <a:solidFill>
              <a:srgbClr val="E0E8F5"/>
            </a:solidFill>
          </a:ln>
        </p:spPr>
      </p:pic>
      <p:sp>
        <p:nvSpPr>
          <p:cNvPr id="40" name="Hdr_Results"/>
          <p:cNvSpPr txBox="1"/>
          <p:nvPr/>
        </p:nvSpPr>
        <p:spPr>
          <a:xfrm>
            <a:off x="29800000" y="3600000"/>
            <a:ext cx="13690000" cy="720000"/>
          </a:xfrm>
          <a:prstGeom prst="rect">
            <a:avLst/>
          </a:prstGeom>
          <a:solidFill>
            <a:srgbClr val="1A4BA9"/>
          </a:solidFill>
          <a:ln>
            <a:noFill/>
          </a:ln>
        </p:spPr>
        <p:txBody>
          <a:bodyPr anchorCtr="1" anchor="ctr" lIns="200000" rIns="100000" tIns="0" bIns="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Georgia"/>
              </a:rPr>
              <a:t>Results</a:t>
            </a:r>
          </a:p>
        </p:txBody>
      </p:sp>
      <p:sp>
        <p:nvSpPr>
          <p:cNvPr id="41" name="Stat1"/>
          <p:cNvSpPr txBox="1"/>
          <p:nvPr/>
        </p:nvSpPr>
        <p:spPr>
          <a:xfrm>
            <a:off x="29800000" y="4480000"/>
            <a:ext cx="6400000" cy="2200000"/>
          </a:xfrm>
          <a:prstGeom prst="roundRect">
            <a:avLst>
              <a:gd name="adj" fmla="val 15000"/>
            </a:avLst>
          </a:prstGeom>
          <a:solidFill>
            <a:srgbClr val="09306B"/>
          </a:solidFill>
          <a:ln w="19050">
            <a:solidFill>
              <a:srgbClr val="CADCFC"/>
            </a:solidFill>
          </a:ln>
        </p:spPr>
        <p:txBody>
          <a:bodyPr anchorCtr="1" anchor="ctr" lIns="100000" rIns="10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>
                <a:solidFill>
                  <a:srgbClr val="CADCFC"/>
                </a:solidFill>
                <a:latin typeface="Georgia"/>
              </a:rPr>
              <a:t>−8.9 dB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</a:rPr>
              <a:t>Spectrum-Fit mean attenuation (sleep)</a:t>
            </a:r>
          </a:p>
        </p:txBody>
      </p:sp>
      <p:sp>
        <p:nvSpPr>
          <p:cNvPr id="42" name="Stat2"/>
          <p:cNvSpPr txBox="1"/>
          <p:nvPr/>
        </p:nvSpPr>
        <p:spPr>
          <a:xfrm>
            <a:off x="36700000" y="4480000"/>
            <a:ext cx="6600000" cy="220000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9050">
            <a:solidFill>
              <a:srgbClr val="02C39A"/>
            </a:solidFill>
          </a:ln>
        </p:spPr>
        <p:txBody>
          <a:bodyPr anchorCtr="1" anchor="ctr" lIns="100000" rIns="10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>
                <a:solidFill>
                  <a:srgbClr val="02C39A"/>
                </a:solidFill>
                <a:latin typeface="Georgia"/>
              </a:rPr>
              <a:t>98.6%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</a:rPr>
              <a:t>Zapline broadband preservation (sleep)</a:t>
            </a:r>
          </a:p>
        </p:txBody>
      </p:sp>
      <p:sp>
        <p:nvSpPr>
          <p:cNvPr id="43" name="Stat3"/>
          <p:cNvSpPr txBox="1"/>
          <p:nvPr/>
        </p:nvSpPr>
        <p:spPr>
          <a:xfrm>
            <a:off x="29800000" y="7000000"/>
            <a:ext cx="6400000" cy="220000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9050">
            <a:solidFill>
              <a:srgbClr val="02C39A"/>
            </a:solidFill>
          </a:ln>
        </p:spPr>
        <p:txBody>
          <a:bodyPr anchorCtr="1" anchor="ctr" lIns="100000" rIns="10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>
                <a:solidFill>
                  <a:srgbClr val="02C39A"/>
                </a:solidFill>
                <a:latin typeface="Georgia"/>
              </a:rPr>
              <a:t>97.1%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</a:rPr>
              <a:t>Time-Hampel broadband pres. (awake)</a:t>
            </a:r>
          </a:p>
        </p:txBody>
      </p:sp>
      <p:sp>
        <p:nvSpPr>
          <p:cNvPr id="44" name="Stat4"/>
          <p:cNvSpPr txBox="1"/>
          <p:nvPr/>
        </p:nvSpPr>
        <p:spPr>
          <a:xfrm>
            <a:off x="36700000" y="7000000"/>
            <a:ext cx="6600000" cy="2200000"/>
          </a:xfrm>
          <a:prstGeom prst="roundRect">
            <a:avLst>
              <a:gd name="adj" fmla="val 15000"/>
            </a:avLst>
          </a:prstGeom>
          <a:solidFill>
            <a:srgbClr val="09306B"/>
          </a:solidFill>
          <a:ln w="19050">
            <a:solidFill>
              <a:srgbClr val="CADCFC"/>
            </a:solidFill>
          </a:ln>
        </p:spPr>
        <p:txBody>
          <a:bodyPr anchorCtr="1" anchor="ctr" lIns="100000" rIns="10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>
                <a:solidFill>
                  <a:srgbClr val="CADCFC"/>
                </a:solidFill>
                <a:latin typeface="Georgia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</a:rPr>
              <a:t>Artifact removal methods benchmarked (3 DBS freqs)</a:t>
            </a:r>
          </a:p>
        </p:txBody>
      </p:sp>
      <p:sp>
        <p:nvSpPr>
          <p:cNvPr id="45" name="FigCaption3"/>
          <p:cNvSpPr txBox="1"/>
          <p:nvPr/>
        </p:nvSpPr>
        <p:spPr>
          <a:xfrm>
            <a:off x="29800000" y="9600000"/>
            <a:ext cx="13690000" cy="500000"/>
          </a:xfrm>
          <a:prstGeom prst="rect">
            <a:avLst/>
          </a:prstGeom>
          <a:solidFill>
            <a:srgbClr val="1A4BA9"/>
          </a:solidFill>
          <a:ln>
            <a:noFill/>
          </a:ln>
        </p:spPr>
        <p:txBody>
          <a:bodyPr anchorCtr="1" anchor="ctr" lIns="150000" rIns="15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Fig. 3 — Per-Harmonic Attenuation (dB) Across Methods</a:t>
            </a:r>
          </a:p>
        </p:txBody>
      </p:sp>
      <p:pic>
        <p:nvPicPr>
          <p:cNvPr id="46" name="Fig3_HarmonicBar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800000" y="10150000"/>
            <a:ext cx="13690000" cy="6000000"/>
          </a:xfrm>
          <a:prstGeom prst="rect">
            <a:avLst/>
          </a:prstGeom>
          <a:ln w="12700">
            <a:solidFill>
              <a:srgbClr val="E0E8F5"/>
            </a:solidFill>
          </a:ln>
        </p:spPr>
      </p:pic>
      <p:sp>
        <p:nvSpPr>
          <p:cNvPr id="47" name="FigCaption4"/>
          <p:cNvSpPr txBox="1"/>
          <p:nvPr/>
        </p:nvSpPr>
        <p:spPr>
          <a:xfrm>
            <a:off x="29800000" y="16200000"/>
            <a:ext cx="13690000" cy="500000"/>
          </a:xfrm>
          <a:prstGeom prst="rect">
            <a:avLst/>
          </a:prstGeom>
          <a:solidFill>
            <a:srgbClr val="1A4BA9"/>
          </a:solidFill>
          <a:ln>
            <a:noFill/>
          </a:ln>
        </p:spPr>
        <p:txBody>
          <a:bodyPr anchorCtr="1" anchor="ctr" lIns="150000" rIns="15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Fig. 4 — Band-Power Preservation Heatmap (% retained vs. clean reference)</a:t>
            </a:r>
          </a:p>
        </p:txBody>
      </p:sp>
      <p:pic>
        <p:nvPicPr>
          <p:cNvPr id="48" name="Fig4_BandHeatmap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800000" y="16750000"/>
            <a:ext cx="13690000" cy="5000000"/>
          </a:xfrm>
          <a:prstGeom prst="rect">
            <a:avLst/>
          </a:prstGeom>
          <a:ln w="12700">
            <a:solidFill>
              <a:srgbClr val="E0E8F5"/>
            </a:solidFill>
          </a:ln>
        </p:spPr>
      </p:pic>
      <p:sp>
        <p:nvSpPr>
          <p:cNvPr id="49" name="FigCaption5"/>
          <p:cNvSpPr txBox="1"/>
          <p:nvPr/>
        </p:nvSpPr>
        <p:spPr>
          <a:xfrm>
            <a:off x="29800000" y="22000000"/>
            <a:ext cx="13690000" cy="500000"/>
          </a:xfrm>
          <a:prstGeom prst="rect">
            <a:avLst/>
          </a:prstGeom>
          <a:solidFill>
            <a:srgbClr val="1A4BA9"/>
          </a:solidFill>
          <a:ln>
            <a:noFill/>
          </a:ln>
        </p:spPr>
        <p:txBody>
          <a:bodyPr anchorCtr="1" anchor="ctr" lIns="150000" rIns="15000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Fig. 5 — Multi-Metric Radar: Attenuation, Preservation, Speed, Broadband</a:t>
            </a:r>
          </a:p>
        </p:txBody>
      </p:sp>
      <p:pic>
        <p:nvPicPr>
          <p:cNvPr id="50" name="Fig5_Rada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800000" y="22550000"/>
            <a:ext cx="13690000" cy="5500000"/>
          </a:xfrm>
          <a:prstGeom prst="rect">
            <a:avLst/>
          </a:prstGeom>
          <a:ln w="12700">
            <a:solidFill>
              <a:srgbClr val="E0E8F5"/>
            </a:solidFill>
          </a:ln>
        </p:spPr>
      </p:pic>
      <p:sp>
        <p:nvSpPr>
          <p:cNvPr id="55" name="Hdr_Conclusions"/>
          <p:cNvSpPr txBox="1"/>
          <p:nvPr/>
        </p:nvSpPr>
        <p:spPr>
          <a:xfrm>
            <a:off x="29800000" y="28400000"/>
            <a:ext cx="13690000" cy="720000"/>
          </a:xfrm>
          <a:prstGeom prst="rect">
            <a:avLst/>
          </a:prstGeom>
          <a:solidFill>
            <a:srgbClr val="1A4BA9"/>
          </a:solidFill>
          <a:ln>
            <a:noFill/>
          </a:ln>
        </p:spPr>
        <p:txBody>
          <a:bodyPr anchorCtr="1" anchor="ctr" lIns="200000" rIns="100000" tIns="0" bIns="0"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Georgia"/>
              </a:rPr>
              <a:t>Conclusions</a:t>
            </a:r>
          </a:p>
        </p:txBody>
      </p:sp>
      <p:sp>
        <p:nvSpPr>
          <p:cNvPr id="56" name="Body_Conclusions"/>
          <p:cNvSpPr txBox="1"/>
          <p:nvPr/>
        </p:nvSpPr>
        <p:spPr>
          <a:xfrm>
            <a:off x="29800000" y="29180000"/>
            <a:ext cx="13690000" cy="2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</a:ln>
        </p:spPr>
        <p:txBody>
          <a:bodyPr anchorCtr="0" anchor="t" lIns="200000" rIns="200000" tIns="150000" bIns="150000" wrap="square">
            <a:noAutofit/>
          </a:bodyPr>
          <a:lstStyle/>
          <a:p>
            <a:pPr indent="-380000" marL="38000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●"/>
            </a:pPr>
            <a:r>
              <a:rPr lang="en-US" sz="2200" b="1">
                <a:solidFill>
                  <a:srgbClr val="09306B"/>
                </a:solidFill>
                <a:latin typeface="Calibri"/>
              </a:rPr>
              <a:t xml:space="preserve">No single method dominates all dimensions. </a:t>
            </a:r>
            <a:r>
              <a:rPr lang="en-US" sz="2200">
                <a:solidFill>
                  <a:srgbClr val="1F1F1F"/>
                </a:solidFill>
                <a:latin typeface="Calibri"/>
              </a:rPr>
              <a:t>Spectrum-Fit achieves the strongest harmonic suppression; Zapline+ and Time-Hampel preserve broadband neural content best.</a:t>
            </a:r>
          </a:p>
          <a:p>
            <a:pPr indent="-380000" marL="38000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●"/>
            </a:pPr>
            <a:r>
              <a:rPr lang="en-US" sz="2200" b="1">
                <a:solidFill>
                  <a:srgbClr val="09306B"/>
                </a:solidFill>
                <a:latin typeface="Calibri"/>
              </a:rPr>
              <a:t xml:space="preserve">Recommended clinical pipeline: </a:t>
            </a:r>
            <a:r>
              <a:rPr lang="en-US" sz="2200">
                <a:solidFill>
                  <a:srgbClr val="1F1F1F"/>
                </a:solidFill>
                <a:latin typeface="Calibri"/>
              </a:rPr>
              <a:t>Spectrum-Fit (−60 dB) followed by Freq-Hampel refinement for residual peaks; Wiener filter when pre-DBS baseline is available.</a:t>
            </a:r>
          </a:p>
          <a:p>
            <a:pPr indent="-380000" marL="38000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●"/>
            </a:pPr>
            <a:r>
              <a:rPr lang="en-US" sz="2200" b="1">
                <a:solidFill>
                  <a:srgbClr val="09306B"/>
                </a:solidFill>
                <a:latin typeface="Calibri"/>
              </a:rPr>
              <a:t xml:space="preserve">Biomarker validity confirmed: </a:t>
            </a:r>
            <a:r>
              <a:rPr lang="en-US" sz="2200">
                <a:solidFill>
                  <a:srgbClr val="1F1F1F"/>
                </a:solidFill>
                <a:latin typeface="Calibri"/>
              </a:rPr>
              <a:t>topographic Delta/Theta/Alpha power clearly differentiates awake vs. sleep states after artifact removal.</a:t>
            </a:r>
          </a:p>
          <a:p>
            <a:pPr indent="-380000" marL="380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●"/>
            </a:pPr>
            <a:r>
              <a:rPr lang="en-US" sz="2200" b="1">
                <a:solidFill>
                  <a:srgbClr val="09306B"/>
                </a:solidFill>
                <a:latin typeface="Calibri"/>
              </a:rPr>
              <a:t xml:space="preserve">Future work: </a:t>
            </a:r>
            <a:r>
              <a:rPr lang="en-US" sz="2200">
                <a:solidFill>
                  <a:srgbClr val="1F1F1F"/>
                </a:solidFill>
                <a:latin typeface="Calibri"/>
              </a:rPr>
              <a:t>EEGNet / RandomForest classification on extracted band-power feature vectors; adaptive DBS frequency tracking for long-term recordings.</a:t>
            </a:r>
          </a:p>
        </p:txBody>
      </p:sp>
      <p:sp>
        <p:nvSpPr>
          <p:cNvPr id="60" name="Divider1"/>
          <p:cNvSpPr>
            <a:spLocks noGrp="1"/>
          </p:cNvSpPr>
          <p:nvPr/>
        </p:nvSpPr>
        <p:spPr>
          <a:xfrm>
            <a:off x="13900000" y="3600000"/>
            <a:ext cx="120000" cy="282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Divider2"/>
          <p:cNvSpPr>
            <a:spLocks noGrp="1"/>
          </p:cNvSpPr>
          <p:nvPr/>
        </p:nvSpPr>
        <p:spPr>
          <a:xfrm>
            <a:off x="29480000" y="3600000"/>
            <a:ext cx="120000" cy="282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FooterText"/>
          <p:cNvSpPr txBox="1"/>
          <p:nvPr/>
        </p:nvSpPr>
        <p:spPr>
          <a:xfrm>
            <a:off x="400000" y="32050000"/>
            <a:ext cx="43091200" cy="750000"/>
          </a:xfrm>
          <a:prstGeom prst="rect">
            <a:avLst/>
          </a:prstGeom>
          <a:noFill/>
          <a:ln>
            <a:noFill/>
          </a:ln>
        </p:spPr>
        <p:txBody>
          <a:bodyPr anchorCtr="1" anchor="ctr" lIns="0" rIns="0" tIns="0" bIns="0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ADCFC"/>
                </a:solidFill>
                <a:latin typeface="Calibri"/>
              </a:rPr>
              <a:t>Contact: wanghleys@gmail.com  |  GitHub: github.com/wanghley/ml-driven-eeg-biomarkers  |  Duke University, Pratt School of Engineering  |  Spring 2026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2013-01-28T22:40:39Z</dcterms:created>
  <dc:creator>Daniel Viens</dc:creator>
</cp:coreProperties>
</file>