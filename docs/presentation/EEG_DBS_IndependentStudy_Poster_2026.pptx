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32918400" cx="438912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hSveCBle5MKSOjwtcyJT3iAgc9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ae57653520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g3ae57653520_2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6&quot; x 48&quot; Poster">
  <p:cSld name="36&quot; x 48&quot; Poster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3"/>
          <p:cNvSpPr txBox="1"/>
          <p:nvPr>
            <p:ph type="title"/>
          </p:nvPr>
        </p:nvSpPr>
        <p:spPr>
          <a:xfrm>
            <a:off x="696686" y="609600"/>
            <a:ext cx="42497700" cy="3352800"/>
          </a:xfrm>
          <a:prstGeom prst="rect">
            <a:avLst/>
          </a:prstGeom>
          <a:solidFill>
            <a:srgbClr val="C4172F"/>
          </a:solidFill>
          <a:ln cap="flat" cmpd="sng" w="19050">
            <a:solidFill>
              <a:srgbClr val="C417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78350" lIns="156700" spcFirstLastPara="1" rIns="156700" wrap="square" tIns="783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Arial"/>
              <a:buNone/>
              <a:defRPr b="1" i="0" sz="6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600"/>
            </a:lvl9pPr>
          </a:lstStyle>
          <a:p/>
        </p:txBody>
      </p:sp>
      <p:sp>
        <p:nvSpPr>
          <p:cNvPr id="8" name="Google Shape;8;p3"/>
          <p:cNvSpPr txBox="1"/>
          <p:nvPr>
            <p:ph idx="1" type="body"/>
          </p:nvPr>
        </p:nvSpPr>
        <p:spPr>
          <a:xfrm>
            <a:off x="696686" y="4267200"/>
            <a:ext cx="13585500" cy="1066800"/>
          </a:xfrm>
          <a:prstGeom prst="rect">
            <a:avLst/>
          </a:prstGeom>
          <a:solidFill>
            <a:srgbClr val="C4172F"/>
          </a:solidFill>
          <a:ln cap="flat" cmpd="sng" w="19050">
            <a:solidFill>
              <a:srgbClr val="C417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8350" lIns="156700" spcFirstLastPara="1" rIns="156700" wrap="square" tIns="78350">
            <a:noAutofit/>
          </a:bodyPr>
          <a:lstStyle>
            <a:lvl1pPr indent="-228600" lvl="0" marL="457200" marR="0" rtl="0" algn="l"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b="1" i="0" sz="4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901700" lvl="1" marL="914400" marR="0" rtl="0" algn="l">
              <a:spcBef>
                <a:spcPts val="2120"/>
              </a:spcBef>
              <a:spcAft>
                <a:spcPts val="0"/>
              </a:spcAft>
              <a:buClr>
                <a:schemeClr val="dk1"/>
              </a:buClr>
              <a:buSzPts val="10600"/>
              <a:buFont typeface="Arial"/>
              <a:buChar char="–"/>
              <a:defRPr b="0" i="0" sz="10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800100" lvl="2" marL="137160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/>
              <a:buChar char="•"/>
              <a:defRPr b="0" i="0" sz="9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723900" lvl="3" marL="1828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–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723900" lvl="4" marL="22860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»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723900" lvl="5" marL="27432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723900" lvl="6" marL="32004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723900" lvl="7" marL="36576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723900" lvl="8" marL="4114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2" type="body"/>
          </p:nvPr>
        </p:nvSpPr>
        <p:spPr>
          <a:xfrm>
            <a:off x="696686" y="5638800"/>
            <a:ext cx="13585500" cy="86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8350" lIns="156700" spcFirstLastPara="1" rIns="156700" wrap="square" tIns="78350">
            <a:noAutofit/>
          </a:bodyPr>
          <a:lstStyle>
            <a:lvl1pPr indent="-2286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406400" lvl="3" marL="18288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406400" lvl="4" marL="22860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»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723900" lvl="5" marL="27432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723900" lvl="6" marL="32004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723900" lvl="7" marL="36576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723900" lvl="8" marL="4114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3" type="body"/>
          </p:nvPr>
        </p:nvSpPr>
        <p:spPr>
          <a:xfrm>
            <a:off x="696686" y="14630400"/>
            <a:ext cx="13585500" cy="1066800"/>
          </a:xfrm>
          <a:prstGeom prst="rect">
            <a:avLst/>
          </a:prstGeom>
          <a:solidFill>
            <a:srgbClr val="C4172F"/>
          </a:solidFill>
          <a:ln cap="flat" cmpd="sng" w="19050">
            <a:solidFill>
              <a:srgbClr val="C417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8350" lIns="156700" spcFirstLastPara="1" rIns="156700" wrap="square" tIns="78350">
            <a:noAutofit/>
          </a:bodyPr>
          <a:lstStyle>
            <a:lvl1pPr indent="-228600" lvl="0" marL="457200" marR="0" rtl="0" algn="l"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b="1" i="0" sz="4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901700" lvl="1" marL="914400" marR="0" rtl="0" algn="l">
              <a:spcBef>
                <a:spcPts val="2120"/>
              </a:spcBef>
              <a:spcAft>
                <a:spcPts val="0"/>
              </a:spcAft>
              <a:buClr>
                <a:schemeClr val="dk1"/>
              </a:buClr>
              <a:buSzPts val="10600"/>
              <a:buFont typeface="Arial"/>
              <a:buChar char="–"/>
              <a:defRPr b="0" i="0" sz="10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800100" lvl="2" marL="137160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/>
              <a:buChar char="•"/>
              <a:defRPr b="0" i="0" sz="9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723900" lvl="3" marL="1828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–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723900" lvl="4" marL="22860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»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723900" lvl="5" marL="27432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723900" lvl="6" marL="32004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723900" lvl="7" marL="36576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723900" lvl="8" marL="4114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4" type="body"/>
          </p:nvPr>
        </p:nvSpPr>
        <p:spPr>
          <a:xfrm>
            <a:off x="696686" y="16002000"/>
            <a:ext cx="13585500" cy="73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78350" lIns="156700" spcFirstLastPara="1" rIns="156700" wrap="square" tIns="783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406400" lvl="2" marL="13716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406400" lvl="3" marL="18288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406400" lvl="4" marL="22860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»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723900" lvl="5" marL="27432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723900" lvl="6" marL="32004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723900" lvl="7" marL="36576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723900" lvl="8" marL="4114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5" type="body"/>
          </p:nvPr>
        </p:nvSpPr>
        <p:spPr>
          <a:xfrm>
            <a:off x="696686" y="23622000"/>
            <a:ext cx="13585500" cy="1066800"/>
          </a:xfrm>
          <a:prstGeom prst="rect">
            <a:avLst/>
          </a:prstGeom>
          <a:solidFill>
            <a:srgbClr val="C4172F"/>
          </a:solidFill>
          <a:ln cap="flat" cmpd="sng" w="19050">
            <a:solidFill>
              <a:srgbClr val="C417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8350" lIns="156700" spcFirstLastPara="1" rIns="156700" wrap="square" tIns="78350">
            <a:noAutofit/>
          </a:bodyPr>
          <a:lstStyle>
            <a:lvl1pPr indent="-228600" lvl="0" marL="457200" marR="0" rtl="0" algn="l"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b="1" i="0" sz="4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901700" lvl="1" marL="914400" marR="0" rtl="0" algn="l">
              <a:spcBef>
                <a:spcPts val="2120"/>
              </a:spcBef>
              <a:spcAft>
                <a:spcPts val="0"/>
              </a:spcAft>
              <a:buClr>
                <a:schemeClr val="dk1"/>
              </a:buClr>
              <a:buSzPts val="10600"/>
              <a:buFont typeface="Arial"/>
              <a:buChar char="–"/>
              <a:defRPr b="0" i="0" sz="10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800100" lvl="2" marL="137160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/>
              <a:buChar char="•"/>
              <a:defRPr b="0" i="0" sz="9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723900" lvl="3" marL="1828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–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723900" lvl="4" marL="22860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»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723900" lvl="5" marL="27432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723900" lvl="6" marL="32004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723900" lvl="7" marL="36576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723900" lvl="8" marL="4114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6" type="body"/>
          </p:nvPr>
        </p:nvSpPr>
        <p:spPr>
          <a:xfrm>
            <a:off x="696686" y="24993600"/>
            <a:ext cx="13585500" cy="73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78350" lIns="156700" spcFirstLastPara="1" rIns="156700" wrap="square" tIns="783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406400" lvl="2" marL="13716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406400" lvl="3" marL="18288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406400" lvl="4" marL="22860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»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723900" lvl="5" marL="27432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723900" lvl="6" marL="32004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723900" lvl="7" marL="36576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723900" lvl="8" marL="4114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7" type="body"/>
          </p:nvPr>
        </p:nvSpPr>
        <p:spPr>
          <a:xfrm>
            <a:off x="15152916" y="4267200"/>
            <a:ext cx="13585500" cy="1066800"/>
          </a:xfrm>
          <a:prstGeom prst="rect">
            <a:avLst/>
          </a:prstGeom>
          <a:solidFill>
            <a:srgbClr val="C4172F"/>
          </a:solidFill>
          <a:ln cap="flat" cmpd="sng" w="19050">
            <a:solidFill>
              <a:srgbClr val="C417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8350" lIns="156700" spcFirstLastPara="1" rIns="156700" wrap="square" tIns="78350">
            <a:noAutofit/>
          </a:bodyPr>
          <a:lstStyle>
            <a:lvl1pPr indent="-228600" lvl="0" marL="457200" marR="0" rtl="0" algn="l"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b="1" i="0" sz="4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901700" lvl="1" marL="914400" marR="0" rtl="0" algn="l">
              <a:spcBef>
                <a:spcPts val="2120"/>
              </a:spcBef>
              <a:spcAft>
                <a:spcPts val="0"/>
              </a:spcAft>
              <a:buClr>
                <a:schemeClr val="dk1"/>
              </a:buClr>
              <a:buSzPts val="10600"/>
              <a:buFont typeface="Arial"/>
              <a:buChar char="–"/>
              <a:defRPr b="0" i="0" sz="10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800100" lvl="2" marL="137160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/>
              <a:buChar char="•"/>
              <a:defRPr b="0" i="0" sz="9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723900" lvl="3" marL="1828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–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723900" lvl="4" marL="22860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»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723900" lvl="5" marL="27432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723900" lvl="6" marL="32004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723900" lvl="7" marL="36576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723900" lvl="8" marL="4114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8" type="body"/>
          </p:nvPr>
        </p:nvSpPr>
        <p:spPr>
          <a:xfrm>
            <a:off x="29609144" y="24993600"/>
            <a:ext cx="13585500" cy="73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78350" lIns="156700" spcFirstLastPara="1" rIns="156700" wrap="square" tIns="7835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406400" lvl="2" marL="13716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406400" lvl="3" marL="18288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406400" lvl="4" marL="22860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»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723900" lvl="5" marL="27432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723900" lvl="6" marL="32004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723900" lvl="7" marL="36576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723900" lvl="8" marL="4114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9" type="body"/>
          </p:nvPr>
        </p:nvSpPr>
        <p:spPr>
          <a:xfrm>
            <a:off x="29609144" y="4267200"/>
            <a:ext cx="13585500" cy="1066800"/>
          </a:xfrm>
          <a:prstGeom prst="rect">
            <a:avLst/>
          </a:prstGeom>
          <a:solidFill>
            <a:srgbClr val="C4172F"/>
          </a:solidFill>
          <a:ln cap="flat" cmpd="sng" w="19050">
            <a:solidFill>
              <a:srgbClr val="C417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8350" lIns="156700" spcFirstLastPara="1" rIns="156700" wrap="square" tIns="78350">
            <a:noAutofit/>
          </a:bodyPr>
          <a:lstStyle>
            <a:lvl1pPr indent="-228600" lvl="0" marL="457200" marR="0" rtl="0" algn="l"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b="1" i="0" sz="4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901700" lvl="1" marL="914400" marR="0" rtl="0" algn="l">
              <a:spcBef>
                <a:spcPts val="2120"/>
              </a:spcBef>
              <a:spcAft>
                <a:spcPts val="0"/>
              </a:spcAft>
              <a:buClr>
                <a:schemeClr val="dk1"/>
              </a:buClr>
              <a:buSzPts val="10600"/>
              <a:buFont typeface="Arial"/>
              <a:buChar char="–"/>
              <a:defRPr b="0" i="0" sz="10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800100" lvl="2" marL="137160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/>
              <a:buChar char="•"/>
              <a:defRPr b="0" i="0" sz="9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723900" lvl="3" marL="1828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–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723900" lvl="4" marL="22860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»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723900" lvl="5" marL="27432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723900" lvl="6" marL="32004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723900" lvl="7" marL="36576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723900" lvl="8" marL="4114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3" type="body"/>
          </p:nvPr>
        </p:nvSpPr>
        <p:spPr>
          <a:xfrm>
            <a:off x="29609144" y="5638800"/>
            <a:ext cx="13585500" cy="176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78350" lIns="156700" spcFirstLastPara="1" rIns="156700" wrap="square" tIns="7835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406400" lvl="2" marL="13716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406400" lvl="3" marL="18288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406400" lvl="4" marL="22860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»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723900" lvl="5" marL="27432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723900" lvl="6" marL="32004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723900" lvl="7" marL="36576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723900" lvl="8" marL="4114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4" type="body"/>
          </p:nvPr>
        </p:nvSpPr>
        <p:spPr>
          <a:xfrm>
            <a:off x="29609144" y="23622000"/>
            <a:ext cx="13585500" cy="1066800"/>
          </a:xfrm>
          <a:prstGeom prst="rect">
            <a:avLst/>
          </a:prstGeom>
          <a:solidFill>
            <a:srgbClr val="C4172F"/>
          </a:solidFill>
          <a:ln cap="flat" cmpd="sng" w="19050">
            <a:solidFill>
              <a:srgbClr val="C417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8350" lIns="156700" spcFirstLastPara="1" rIns="156700" wrap="square" tIns="78350">
            <a:noAutofit/>
          </a:bodyPr>
          <a:lstStyle>
            <a:lvl1pPr indent="-228600" lvl="0" marL="457200" marR="0" rtl="0" algn="l"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b="1" i="0" sz="4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901700" lvl="1" marL="914400" marR="0" rtl="0" algn="l">
              <a:spcBef>
                <a:spcPts val="2120"/>
              </a:spcBef>
              <a:spcAft>
                <a:spcPts val="0"/>
              </a:spcAft>
              <a:buClr>
                <a:schemeClr val="dk1"/>
              </a:buClr>
              <a:buSzPts val="10600"/>
              <a:buFont typeface="Arial"/>
              <a:buChar char="–"/>
              <a:defRPr b="0" i="0" sz="10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800100" lvl="2" marL="1371600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/>
              <a:buChar char="•"/>
              <a:defRPr b="0" i="0" sz="9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723900" lvl="3" marL="1828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–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723900" lvl="4" marL="22860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»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723900" lvl="5" marL="27432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723900" lvl="6" marL="32004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723900" lvl="7" marL="36576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723900" lvl="8" marL="4114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5" type="body"/>
          </p:nvPr>
        </p:nvSpPr>
        <p:spPr>
          <a:xfrm>
            <a:off x="15152916" y="5638800"/>
            <a:ext cx="13585500" cy="26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78350" lIns="156700" spcFirstLastPara="1" rIns="156700" wrap="square" tIns="78350">
            <a:noAutofit/>
          </a:bodyPr>
          <a:lstStyle>
            <a:lvl1pPr indent="-2286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406400" lvl="2" marL="13716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406400" lvl="3" marL="18288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406400" lvl="4" marL="22860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»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723900" lvl="5" marL="27432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723900" lvl="6" marL="32004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723900" lvl="7" marL="36576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723900" lvl="8" marL="4114800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" name="Google Shape;20;p3"/>
          <p:cNvSpPr/>
          <p:nvPr>
            <p:ph idx="16" type="pic"/>
          </p:nvPr>
        </p:nvSpPr>
        <p:spPr>
          <a:xfrm>
            <a:off x="1219204" y="914400"/>
            <a:ext cx="3135000" cy="2743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1" name="Google Shape;21;p3"/>
          <p:cNvSpPr/>
          <p:nvPr>
            <p:ph idx="17" type="pic"/>
          </p:nvPr>
        </p:nvSpPr>
        <p:spPr>
          <a:xfrm>
            <a:off x="39711090" y="914400"/>
            <a:ext cx="3135000" cy="2743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2" name="Google Shape;22;p3"/>
          <p:cNvSpPr/>
          <p:nvPr>
            <p:ph idx="18" type="chart"/>
          </p:nvPr>
        </p:nvSpPr>
        <p:spPr>
          <a:xfrm>
            <a:off x="16197948" y="16154400"/>
            <a:ext cx="11495400" cy="6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78350" lIns="156700" spcFirstLastPara="1" rIns="156700" wrap="square" tIns="78350">
            <a:noAutofit/>
          </a:bodyPr>
          <a:lstStyle>
            <a:lvl1pPr lvl="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2120"/>
              </a:spcBef>
              <a:spcAft>
                <a:spcPts val="0"/>
              </a:spcAft>
              <a:buClr>
                <a:schemeClr val="dk1"/>
              </a:buClr>
              <a:buSzPts val="10600"/>
              <a:buFont typeface="Arial"/>
              <a:buChar char="–"/>
              <a:defRPr b="0" i="0" sz="10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/>
              <a:buChar char="•"/>
              <a:defRPr b="0" i="0" sz="9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–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»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3"/>
          <p:cNvSpPr/>
          <p:nvPr>
            <p:ph idx="19" type="chart"/>
          </p:nvPr>
        </p:nvSpPr>
        <p:spPr>
          <a:xfrm>
            <a:off x="16197948" y="24536400"/>
            <a:ext cx="11495400" cy="6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78350" lIns="156700" spcFirstLastPara="1" rIns="156700" wrap="square" tIns="78350">
            <a:noAutofit/>
          </a:bodyPr>
          <a:lstStyle>
            <a:lvl1pPr lvl="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2120"/>
              </a:spcBef>
              <a:spcAft>
                <a:spcPts val="0"/>
              </a:spcAft>
              <a:buClr>
                <a:schemeClr val="dk1"/>
              </a:buClr>
              <a:buSzPts val="10600"/>
              <a:buFont typeface="Arial"/>
              <a:buChar char="–"/>
              <a:defRPr b="0" i="0" sz="10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/>
              <a:buChar char="•"/>
              <a:defRPr b="0" i="0" sz="9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–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»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1560"/>
              </a:spcBef>
              <a:spcAft>
                <a:spcPts val="0"/>
              </a:spcAft>
              <a:buClr>
                <a:schemeClr val="dk1"/>
              </a:buClr>
              <a:buSzPts val="7800"/>
              <a:buFont typeface="Arial"/>
              <a:buChar char="•"/>
              <a:defRPr b="0" i="0" sz="7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pic>
        <p:nvPicPr>
          <p:cNvPr descr="Logo.jpg" id="24" name="Google Shape;24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538400" y="32416772"/>
            <a:ext cx="2743200" cy="43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lid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 txBox="1"/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rgbClr val="071220"/>
          </a:solidFill>
        </p:spPr>
        <p:txBody>
          <a:bodyPr/>
          <a:lstStyle/>
        </p:txBody>
      </p:sp>
      <p:sp>
        <p:nvSpPr>
          <p:cNvPr id="3" name="hdr_bar"/>
          <p:cNvSpPr txBox="1"/>
          <p:nvPr/>
        </p:nvSpPr>
        <p:spPr>
          <a:xfrm>
            <a:off x="0" y="0"/>
            <a:ext cx="43891200" cy="3000000"/>
          </a:xfrm>
          <a:prstGeom prst="rect">
            <a:avLst/>
          </a:prstGeom>
          <a:solidFill>
            <a:srgbClr val="09306B"/>
          </a:solidFill>
        </p:spPr>
        <p:txBody>
          <a:bodyPr/>
          <a:lstStyle/>
        </p:txBody>
      </p:sp>
      <p:sp>
        <p:nvSpPr>
          <p:cNvPr id="4" name="acc_line"/>
          <p:cNvSpPr txBox="1"/>
          <p:nvPr/>
        </p:nvSpPr>
        <p:spPr>
          <a:xfrm>
            <a:off x="0" y="3000000"/>
            <a:ext cx="43891200" cy="76200"/>
          </a:xfrm>
          <a:prstGeom prst="rect">
            <a:avLst/>
          </a:prstGeom>
          <a:solidFill>
            <a:srgbClr val="F0A500"/>
          </a:solidFill>
        </p:spPr>
        <p:txBody>
          <a:bodyPr/>
          <a:lstStyle/>
        </p:txBody>
      </p:sp>
      <p:sp>
        <p:nvSpPr>
          <p:cNvPr id="5" name="hdr_title"/>
          <p:cNvSpPr txBox="1"/>
          <p:nvPr/>
        </p:nvSpPr>
        <p:spPr>
          <a:xfrm>
            <a:off x="400000" y="150000"/>
            <a:ext cx="35000000" cy="1700000"/>
          </a:xfrm>
          <a:prstGeom prst="rect">
            <a:avLst/>
          </a:prstGeom>
          <a:noFill/>
        </p:spPr>
        <p:txBody>
          <a:bodyPr anchor="ctr"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800" b="1" i="0" u="none" dirty="0">
                <a:solidFill>
                  <a:srgbClr val="FFFFFF"/>
                </a:solidFill>
              </a:rPr>
              <a:t>ML-Driven EEG Biomarkers in DBS Patients</a:t>
            </a:r>
          </a:p>
          <a:p>
            <a:pPr algn="l">
              <a:spcBef>
                <a:spcPts val="60"/>
              </a:spcBef>
            </a:pPr>
            <a:r>
              <a:rPr lang="en-US" sz="1400" b="0" i="0" u="none" dirty="0">
                <a:solidFill>
                  <a:srgbClr val="CADCFC"/>
                </a:solidFill>
              </a:rPr>
              <a:t>A Hybrid Artifact Removal and Beta-Band Biomarker Extraction Pipeline</a:t>
            </a:r>
          </a:p>
          <a:p>
            <a:pPr algn="l">
              <a:spcBef>
                <a:spcPts val="60"/>
              </a:spcBef>
            </a:pPr>
            <a:r>
              <a:rPr lang="en-US" sz="1100" b="0" i="0" u="none" dirty="0">
                <a:solidFill>
                  <a:srgbClr val="CADCFC"/>
                </a:solidFill>
              </a:rPr>
              <a:t>Wanghley Soares Martins de Lima  |  Advisor: Eda Okay, Ph.D.  |  Duke University Independent Study  |  Spring 2026</a:t>
            </a:r>
          </a:p>
        </p:txBody>
      </p:sp>
      <p:sp>
        <p:nvSpPr>
          <p:cNvPr id="6" name="duke_badge"/>
          <p:cNvSpPr txBox="1"/>
          <p:nvPr/>
        </p:nvSpPr>
        <p:spPr>
          <a:xfrm>
            <a:off x="35600000" y="200000"/>
            <a:ext cx="7891200" cy="2400000"/>
          </a:xfrm>
          <a:prstGeom prst="rect">
            <a:avLst/>
          </a:prstGeom>
          <a:noFill/>
        </p:spPr>
        <p:txBody>
          <a:bodyPr anchor="ctr" wrap="square" lIns="0" rIns="0" tIns="0" bIns="0">
            <a:noAutofit/>
          </a:bodyPr>
          <a:lstStyle/>
          <a:p>
            <a:pPr algn="r">
              <a:spcBef>
                <a:spcPts val="0"/>
              </a:spcBef>
            </a:pPr>
            <a:r>
              <a:rPr lang="en-US" sz="2200" b="1" i="0" u="none" dirty="0">
                <a:solidFill>
                  <a:srgbClr val="CADCFC"/>
                </a:solidFill>
              </a:rPr>
              <a:t>DUKE</a:t>
            </a:r>
          </a:p>
          <a:p>
            <a:pPr algn="r">
              <a:spcBef>
                <a:spcPts val="0"/>
              </a:spcBef>
            </a:pPr>
            <a:r>
              <a:rPr lang="en-US" sz="1000" b="0" i="0" u="none" dirty="0">
                <a:solidFill>
                  <a:srgbClr val="CADCFC"/>
                </a:solidFill>
              </a:rPr>
              <a:t>Pratt School of Engineering</a:t>
            </a:r>
          </a:p>
          <a:p>
            <a:pPr algn="r">
              <a:spcBef>
                <a:spcPts val="30"/>
              </a:spcBef>
            </a:pPr>
            <a:r>
              <a:rPr lang="en-US" sz="900" b="0" i="0" u="none" dirty="0">
                <a:solidFill>
                  <a:srgbClr val="8AAFD4"/>
                </a:solidFill>
              </a:rPr>
              <a:t>ECE / BME Independent Study  |  2026</a:t>
            </a:r>
          </a:p>
        </p:txBody>
      </p:sp>
      <p:sp>
        <p:nvSpPr>
          <p:cNvPr id="10" name="sh_intro"/>
          <p:cNvSpPr txBox="1"/>
          <p:nvPr/>
        </p:nvSpPr>
        <p:spPr>
          <a:xfrm>
            <a:off x="400000" y="3200000"/>
            <a:ext cx="14197066" cy="550000"/>
          </a:xfrm>
          <a:prstGeom prst="rect">
            <a:avLst/>
          </a:prstGeom>
          <a:solidFill>
            <a:srgbClr val="09306B"/>
          </a:solidFill>
        </p:spPr>
        <p:txBody>
          <a:bodyPr anchor="t" anchorCtr="0" wrap="square" lIns="130000" rIns="130000" tIns="80000" bIns="800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600" b="1" i="0" u="none" dirty="0">
                <a:solidFill>
                  <a:srgbClr val="CADCFC"/>
                </a:solidFill>
              </a:rPr>
              <a:t>INTRODUCTION</a:t>
            </a:r>
          </a:p>
        </p:txBody>
      </p:sp>
      <p:sp>
        <p:nvSpPr>
          <p:cNvPr id="11" name="intro_body"/>
          <p:cNvSpPr txBox="1"/>
          <p:nvPr/>
        </p:nvSpPr>
        <p:spPr>
          <a:xfrm>
            <a:off x="400000" y="3830000"/>
            <a:ext cx="14197066" cy="4500000"/>
          </a:xfrm>
          <a:prstGeom prst="rect">
            <a:avLst/>
          </a:prstGeom>
          <a:solidFill>
            <a:srgbClr val="0D1E38"/>
          </a:solidFill>
        </p:spPr>
        <p:txBody>
          <a:bodyPr anchor="t" anchorCtr="0" wrap="square" lIns="130000" rIns="130000" tIns="80000" bIns="80000">
            <a:noAutofit/>
          </a:bodyPr>
          <a:lstStyle/>
          <a:p>
            <a:pPr algn="l">
              <a:spcBef>
                <a:spcPts val="0"/>
              </a:spcBef>
              <a:spcAft>
                <a:spcPts val="40"/>
              </a:spcAft>
            </a:pPr>
            <a:r>
              <a:rPr lang="en-US" sz="1200" b="1" i="0" u="none" dirty="0">
                <a:solidFill>
                  <a:srgbClr val="CADCFC"/>
                </a:solidFill>
              </a:rPr>
              <a:t>Deep Brain Stimulation (DBS) &amp; the EEG Challenge</a:t>
            </a:r>
          </a:p>
          <a:p>
            <a:pPr marL="300000" indent="-300000" algn="l">
              <a:spcBef>
                <a:spcPts val="30"/>
              </a:spcBef>
              <a:spcAft>
                <a:spcPts val="0"/>
              </a:spcAft>
              <a:buChar char="•"/>
            </a:pPr>
            <a:r>
              <a:rPr lang="en-US" sz="1100" b="0" i="0" u="none" dirty="0">
                <a:solidFill>
                  <a:srgbClr val="FFFFFF"/>
                </a:solidFill>
              </a:rPr>
              <a:t>Deep Brain Stimulation delivers continuous 7 Hz (and harmonics: 14, 21, 28 Hz) electrical pulses via implanted electrodes targeting the subthalamic nucleus (STN) for Parkinson's disease.</a:t>
            </a:r>
          </a:p>
          <a:p>
            <a:pPr marL="300000" indent="-300000" algn="l">
              <a:spcBef>
                <a:spcPts val="30"/>
              </a:spcBef>
              <a:spcAft>
                <a:spcPts val="0"/>
              </a:spcAft>
              <a:buChar char="•"/>
            </a:pPr>
            <a:r>
              <a:rPr lang="en-US" sz="1100" b="0" i="0" u="none" dirty="0">
                <a:solidFill>
                  <a:srgbClr val="FFFFFF"/>
                </a:solidFill>
              </a:rPr>
              <a:t>These pulses create broadband artifacts that saturate scalp EEG, masking the very biomarkers — beta-band power (13–30 Hz) and phase-amplitude coupling — needed to assess therapeutic state.</a:t>
            </a:r>
          </a:p>
          <a:p>
            <a:pPr marL="300000" indent="-300000" algn="l">
              <a:spcBef>
                <a:spcPts val="30"/>
              </a:spcBef>
              <a:spcAft>
                <a:spcPts val="0"/>
              </a:spcAft>
              <a:buChar char="•"/>
            </a:pPr>
            <a:r>
              <a:rPr lang="en-US" sz="1100" b="0" i="0" u="none" dirty="0">
                <a:solidFill>
                  <a:srgbClr val="FFFFFF"/>
                </a:solidFill>
              </a:rPr>
              <a:t>Dataset: Patient XU recordings at 3 DBS frequencies (7 Hz, 60 Hz, 100 Hz), sampled at 256 Hz, 19-channel 10-20 montage, matched awake/sleep conditions.</a:t>
            </a:r>
          </a:p>
          <a:p>
            <a:pPr algn="l">
              <a:spcBef>
                <a:spcPts val="100"/>
              </a:spcBef>
              <a:spcAft>
                <a:spcPts val="40"/>
              </a:spcAft>
            </a:pPr>
            <a:r>
              <a:rPr lang="en-US" sz="1200" b="1" i="0" u="none" dirty="0">
                <a:solidFill>
                  <a:srgbClr val="CADCFC"/>
                </a:solidFill>
              </a:rPr>
              <a:t>Motivation &amp; Objectives</a:t>
            </a:r>
          </a:p>
          <a:p>
            <a:pPr marL="300000" indent="-300000" algn="l">
              <a:spcBef>
                <a:spcPts val="30"/>
              </a:spcBef>
              <a:spcAft>
                <a:spcPts val="0"/>
              </a:spcAft>
              <a:buChar char="•"/>
            </a:pPr>
            <a:r>
              <a:rPr lang="en-US" sz="1100" b="0" i="0" u="none" dirty="0">
                <a:solidFill>
                  <a:srgbClr val="FFFFFF"/>
                </a:solidFill>
              </a:rPr>
              <a:t>Develop a clinically viable artifact removal pipeline that preserves endogenous beta oscillations critical for DBS closed-loop control.</a:t>
            </a:r>
          </a:p>
          <a:p>
            <a:pPr marL="300000" indent="-300000" algn="l">
              <a:spcBef>
                <a:spcPts val="30"/>
              </a:spcBef>
              <a:spcAft>
                <a:spcPts val="0"/>
              </a:spcAft>
              <a:buChar char="•"/>
            </a:pPr>
            <a:r>
              <a:rPr lang="en-US" sz="1100" b="0" i="0" u="none" dirty="0">
                <a:solidFill>
                  <a:srgbClr val="FFFFFF"/>
                </a:solidFill>
              </a:rPr>
              <a:t>Validate a hybrid SVD + NLMS + Spectral Hampel removal sequence on paired DBS-on vs. DBS-off EEG epochs.</a:t>
            </a:r>
          </a:p>
          <a:p>
            <a:pPr marL="300000" indent="-300000" algn="l">
              <a:spcBef>
                <a:spcPts val="30"/>
              </a:spcBef>
              <a:spcAft>
                <a:spcPts val="0"/>
              </a:spcAft>
              <a:buChar char="•"/>
            </a:pPr>
            <a:r>
              <a:rPr lang="en-US" sz="1100" b="0" i="0" u="none" dirty="0">
                <a:solidFill>
                  <a:srgbClr val="FFFFFF"/>
                </a:solidFill>
              </a:rPr>
              <a:t>Extract and classify biomarkers (beta power, PAC) using supervised ML to distinguish clinical states (awake vs. sleep).</a:t>
            </a:r>
          </a:p>
          <a:p>
            <a:pPr marL="300000" indent="-300000" algn="l">
              <a:spcBef>
                <a:spcPts val="30"/>
              </a:spcBef>
              <a:spcAft>
                <a:spcPts val="0"/>
              </a:spcAft>
              <a:buChar char="•"/>
            </a:pPr>
            <a:r>
              <a:rPr lang="en-US" sz="1100" b="0" i="0" u="none" dirty="0">
                <a:solidFill>
                  <a:srgbClr val="FFFFFF"/>
                </a:solidFill>
              </a:rPr>
              <a:t>Benchmark all methods quantitatively: harmonic attenuation (dB), broadband spectral preservation (%), and beta-band retention.</a:t>
            </a:r>
          </a:p>
        </p:txBody>
      </p:sp>
      <p:sp>
        <p:nvSpPr>
          <p:cNvPr id="12" name="sh_preproc"/>
          <p:cNvSpPr txBox="1"/>
          <p:nvPr/>
        </p:nvSpPr>
        <p:spPr>
          <a:xfrm>
            <a:off x="400000" y="8510000"/>
            <a:ext cx="14197066" cy="550000"/>
          </a:xfrm>
          <a:prstGeom prst="rect">
            <a:avLst/>
          </a:prstGeom>
          <a:solidFill>
            <a:srgbClr val="09306B"/>
          </a:solidFill>
        </p:spPr>
        <p:txBody>
          <a:bodyPr anchor="t" anchorCtr="0" wrap="square" lIns="130000" rIns="130000" tIns="80000" bIns="800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600" b="1" i="0" u="none" dirty="0">
                <a:solidFill>
                  <a:srgbClr val="CADCFC"/>
                </a:solidFill>
              </a:rPr>
              <a:t>STANDARD PREPROCESSING</a:t>
            </a:r>
          </a:p>
        </p:txBody>
      </p:sp>
      <p:sp>
        <p:nvSpPr>
          <p:cNvPr id="13" name="preproc_body"/>
          <p:cNvSpPr txBox="1"/>
          <p:nvPr/>
        </p:nvSpPr>
        <p:spPr>
          <a:xfrm>
            <a:off x="400000" y="9140000"/>
            <a:ext cx="14197066" cy="15538400"/>
          </a:xfrm>
          <a:prstGeom prst="rect">
            <a:avLst/>
          </a:prstGeom>
          <a:solidFill>
            <a:srgbClr val="0D1E38"/>
          </a:solidFill>
        </p:spPr>
        <p:txBody>
          <a:bodyPr anchor="t" anchorCtr="0" wrap="square" lIns="130000" rIns="130000" tIns="80000" bIns="80000">
            <a:noAutofit/>
          </a:bodyPr>
          <a:lstStyle/>
          <a:p>
            <a:pPr algn="l">
              <a:spcBef>
                <a:spcPts val="0"/>
              </a:spcBef>
              <a:spcAft>
                <a:spcPts val="40"/>
              </a:spcAft>
            </a:pPr>
            <a:r>
              <a:rPr lang="en-US" sz="1200" b="1" i="0" u="none" dirty="0">
                <a:solidFill>
                  <a:srgbClr val="CADCFC"/>
                </a:solidFill>
              </a:rPr>
              <a:t>Four-Stage Consensus Pipeline (MNE 1.10.2 / SciPy)</a:t>
            </a:r>
          </a:p>
          <a:p>
            <a:pPr algn="l">
              <a:spcBef>
                <a:spcPts val="60"/>
              </a:spcBef>
              <a:spcAft>
                <a:spcPts val="20"/>
              </a:spcAft>
            </a:pPr>
            <a:r>
              <a:rPr lang="en-US" sz="1100" b="1" i="0" u="none" dirty="0">
                <a:solidFill>
                  <a:srgbClr val="F0A500"/>
                </a:solidFill>
              </a:rPr>
              <a:t>Stage 1: Zero-Phase FIR Bandpass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Highpass: 0.5 Hz, transition bandwidth 0.25 Hz (MNE l_trans_bandwidth=0.25)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Lowpass: 45 Hz, removes slow drift and high-frequency noise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Zero-phase filtfilt prevents group-delay distortion of event-related potentials</a:t>
            </a:r>
          </a:p>
          <a:p>
            <a:pPr algn="l">
              <a:spcBef>
                <a:spcPts val="60"/>
              </a:spcBef>
              <a:spcAft>
                <a:spcPts val="20"/>
              </a:spcAft>
            </a:pPr>
            <a:r>
              <a:rPr lang="en-US" sz="1100" b="1" i="0" u="none" dirty="0">
                <a:solidFill>
                  <a:srgbClr val="F0A500"/>
                </a:solidFill>
              </a:rPr>
              <a:t>Stage 2: Common Average Reference (CAR)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Subtracts mean potential across all 19 electrodes per time sample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Reduces common-mode noise; improves spatial specificity of subsequent filtering</a:t>
            </a:r>
          </a:p>
          <a:p>
            <a:pPr algn="l">
              <a:spcBef>
                <a:spcPts val="60"/>
              </a:spcBef>
              <a:spcAft>
                <a:spcPts val="20"/>
              </a:spcAft>
            </a:pPr>
            <a:r>
              <a:rPr lang="en-US" sz="1100" b="1" i="0" u="none" dirty="0">
                <a:solidFill>
                  <a:srgbClr val="F0A500"/>
                </a:solidFill>
              </a:rPr>
              <a:t>Stage 3: Notch Filter (60 Hz + Harmonics)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IIR notch at 60 Hz, 120 Hz, 180 Hz (power line); notch width = 1.0 Hz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Q-factor selected to maximize line noise rejection while preserving gamma-band EEG</a:t>
            </a:r>
          </a:p>
          <a:p>
            <a:pPr algn="l">
              <a:spcBef>
                <a:spcPts val="60"/>
              </a:spcBef>
              <a:spcAft>
                <a:spcPts val="20"/>
              </a:spcAft>
            </a:pPr>
            <a:r>
              <a:rPr lang="en-US" sz="1100" b="1" i="0" u="none" dirty="0">
                <a:solidFill>
                  <a:srgbClr val="F0A500"/>
                </a:solidFill>
              </a:rPr>
              <a:t>Stage 4: Anti-Aliasing via Resampling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Decimate to analysis rate (256 Hz) with polyphase anti-aliasing FIR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Applied after ICA to prevent fold-over of DBS harmonics into low bands</a:t>
            </a:r>
          </a:p>
          <a:p>
            <a:pPr algn="l">
              <a:spcBef>
                <a:spcPts val="60"/>
              </a:spcBef>
              <a:spcAft>
                <a:spcPts val="20"/>
              </a:spcAft>
            </a:pPr>
            <a:r>
              <a:rPr lang="en-US" sz="1100" b="1" i="0" u="none" dirty="0">
                <a:solidFill>
                  <a:srgbClr val="F0A500"/>
                </a:solidFill>
              </a:rPr>
              <a:t>ICA: Mutual Information Artifact Rejection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FastICA, n_components=0.95 variance explained; random_state=42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IC rejection: ICLabel probability threshold + EOG correlation (r &gt; 0.7) + muscle power heuristic (&gt;40% power in 20–40 Hz)</a:t>
            </a:r>
          </a:p>
        </p:txBody>
      </p:sp>
      <p:sp>
        <p:nvSpPr>
          <p:cNvPr id="30" name="pipe_0"/>
          <p:cNvSpPr txBox="1"/>
          <p:nvPr/>
        </p:nvSpPr>
        <p:spPr>
          <a:xfrm>
            <a:off x="400000" y="24858400"/>
            <a:ext cx="2266177" cy="600000"/>
          </a:xfrm>
          <a:prstGeom prst="rect">
            <a:avLst/>
          </a:prstGeom>
          <a:solidFill>
            <a:srgbClr val="09306B"/>
          </a:solidFill>
        </p:spPr>
        <p:txBody>
          <a:bodyPr anchor="ctr" anchorCtr="1" wrap="square" lIns="60000" rIns="60000" tIns="40000" bIns="40000">
            <a:noAutofit/>
          </a:bodyPr>
          <a:lstStyle/>
          <a:p>
            <a:pPr algn="ctr"/>
            <a:r>
              <a:rPr lang="en-US" sz="850" b="1" dirty="0">
                <a:solidFill>
                  <a:srgbClr val="FFFFFF"/>
                </a:solidFill>
              </a:rPr>
              <a:t>RAW EDF</a:t>
            </a:r>
          </a:p>
        </p:txBody>
      </p:sp>
      <p:sp>
        <p:nvSpPr>
          <p:cNvPr id="90" name="arr_0"/>
          <p:cNvSpPr txBox="1"/>
          <p:nvPr/>
        </p:nvSpPr>
        <p:spPr>
          <a:xfrm>
            <a:off x="2666177" y="25128400"/>
            <a:ext cx="120000" cy="120000"/>
          </a:xfrm>
          <a:prstGeom prst="rect">
            <a:avLst/>
          </a:prstGeom>
          <a:noFill/>
        </p:spPr>
        <p:txBody>
          <a:bodyPr anchor="ctr" anchorCtr="1" wrap="square" lIns="0" rIns="0" t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CADCFC"/>
                </a:solidFill>
              </a:rPr>
              <a:t>→</a:t>
            </a:r>
          </a:p>
        </p:txBody>
      </p:sp>
      <p:sp>
        <p:nvSpPr>
          <p:cNvPr id="31" name="pipe_1"/>
          <p:cNvSpPr txBox="1"/>
          <p:nvPr/>
        </p:nvSpPr>
        <p:spPr>
          <a:xfrm>
            <a:off x="2786177" y="24858400"/>
            <a:ext cx="2266177" cy="600000"/>
          </a:xfrm>
          <a:prstGeom prst="rect">
            <a:avLst/>
          </a:prstGeom>
          <a:solidFill>
            <a:srgbClr val="1A4BA9"/>
          </a:solidFill>
        </p:spPr>
        <p:txBody>
          <a:bodyPr anchor="ctr" anchorCtr="1" wrap="square" lIns="60000" rIns="60000" tIns="40000" bIns="40000">
            <a:noAutofit/>
          </a:bodyPr>
          <a:lstStyle/>
          <a:p>
            <a:pPr algn="ctr"/>
            <a:r>
              <a:rPr lang="en-US" sz="850" b="1" dirty="0">
                <a:solidFill>
                  <a:srgbClr val="FFFFFF"/>
                </a:solidFill>
              </a:rPr>
              <a:t>BANDPASS
0.5–45 Hz</a:t>
            </a:r>
          </a:p>
        </p:txBody>
      </p:sp>
      <p:sp>
        <p:nvSpPr>
          <p:cNvPr id="91" name="arr_1"/>
          <p:cNvSpPr txBox="1"/>
          <p:nvPr/>
        </p:nvSpPr>
        <p:spPr>
          <a:xfrm>
            <a:off x="5052354" y="25128400"/>
            <a:ext cx="120000" cy="120000"/>
          </a:xfrm>
          <a:prstGeom prst="rect">
            <a:avLst/>
          </a:prstGeom>
          <a:noFill/>
        </p:spPr>
        <p:txBody>
          <a:bodyPr anchor="ctr" anchorCtr="1" wrap="square" lIns="0" rIns="0" t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CADCFC"/>
                </a:solidFill>
              </a:rPr>
              <a:t>→</a:t>
            </a:r>
          </a:p>
        </p:txBody>
      </p:sp>
      <p:sp>
        <p:nvSpPr>
          <p:cNvPr id="32" name="pipe_2"/>
          <p:cNvSpPr txBox="1"/>
          <p:nvPr/>
        </p:nvSpPr>
        <p:spPr>
          <a:xfrm>
            <a:off x="5172354" y="24858400"/>
            <a:ext cx="2266177" cy="600000"/>
          </a:xfrm>
          <a:prstGeom prst="rect">
            <a:avLst/>
          </a:prstGeom>
          <a:solidFill>
            <a:srgbClr val="1A4BA9"/>
          </a:solidFill>
        </p:spPr>
        <p:txBody>
          <a:bodyPr anchor="ctr" anchorCtr="1" wrap="square" lIns="60000" rIns="60000" tIns="40000" bIns="40000">
            <a:noAutofit/>
          </a:bodyPr>
          <a:lstStyle/>
          <a:p>
            <a:pPr algn="ctr"/>
            <a:r>
              <a:rPr lang="en-US" sz="850" b="1" dirty="0">
                <a:solidFill>
                  <a:srgbClr val="FFFFFF"/>
                </a:solidFill>
              </a:rPr>
              <a:t>CAR</a:t>
            </a:r>
          </a:p>
        </p:txBody>
      </p:sp>
      <p:sp>
        <p:nvSpPr>
          <p:cNvPr id="92" name="arr_2"/>
          <p:cNvSpPr txBox="1"/>
          <p:nvPr/>
        </p:nvSpPr>
        <p:spPr>
          <a:xfrm>
            <a:off x="7438531" y="25128400"/>
            <a:ext cx="120000" cy="120000"/>
          </a:xfrm>
          <a:prstGeom prst="rect">
            <a:avLst/>
          </a:prstGeom>
          <a:noFill/>
        </p:spPr>
        <p:txBody>
          <a:bodyPr anchor="ctr" anchorCtr="1" wrap="square" lIns="0" rIns="0" t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CADCFC"/>
                </a:solidFill>
              </a:rPr>
              <a:t>→</a:t>
            </a:r>
          </a:p>
        </p:txBody>
      </p:sp>
      <p:sp>
        <p:nvSpPr>
          <p:cNvPr id="33" name="pipe_3"/>
          <p:cNvSpPr txBox="1"/>
          <p:nvPr/>
        </p:nvSpPr>
        <p:spPr>
          <a:xfrm>
            <a:off x="7558531" y="24858400"/>
            <a:ext cx="2266177" cy="600000"/>
          </a:xfrm>
          <a:prstGeom prst="rect">
            <a:avLst/>
          </a:prstGeom>
          <a:solidFill>
            <a:srgbClr val="1A4BA9"/>
          </a:solidFill>
        </p:spPr>
        <p:txBody>
          <a:bodyPr anchor="ctr" anchorCtr="1" wrap="square" lIns="60000" rIns="60000" tIns="40000" bIns="40000">
            <a:noAutofit/>
          </a:bodyPr>
          <a:lstStyle/>
          <a:p>
            <a:pPr algn="ctr"/>
            <a:r>
              <a:rPr lang="en-US" sz="850" b="1" dirty="0">
                <a:solidFill>
                  <a:srgbClr val="FFFFFF"/>
                </a:solidFill>
              </a:rPr>
              <a:t>NOTCH
60 Hz</a:t>
            </a:r>
          </a:p>
        </p:txBody>
      </p:sp>
      <p:sp>
        <p:nvSpPr>
          <p:cNvPr id="93" name="arr_3"/>
          <p:cNvSpPr txBox="1"/>
          <p:nvPr/>
        </p:nvSpPr>
        <p:spPr>
          <a:xfrm>
            <a:off x="9824708" y="25128400"/>
            <a:ext cx="120000" cy="120000"/>
          </a:xfrm>
          <a:prstGeom prst="rect">
            <a:avLst/>
          </a:prstGeom>
          <a:noFill/>
        </p:spPr>
        <p:txBody>
          <a:bodyPr anchor="ctr" anchorCtr="1" wrap="square" lIns="0" rIns="0" t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CADCFC"/>
                </a:solidFill>
              </a:rPr>
              <a:t>→</a:t>
            </a:r>
          </a:p>
        </p:txBody>
      </p:sp>
      <p:sp>
        <p:nvSpPr>
          <p:cNvPr id="34" name="pipe_4"/>
          <p:cNvSpPr txBox="1"/>
          <p:nvPr/>
        </p:nvSpPr>
        <p:spPr>
          <a:xfrm>
            <a:off x="9944708" y="24858400"/>
            <a:ext cx="2266177" cy="600000"/>
          </a:xfrm>
          <a:prstGeom prst="rect">
            <a:avLst/>
          </a:prstGeom>
          <a:solidFill>
            <a:srgbClr val="1A4BA9"/>
          </a:solidFill>
        </p:spPr>
        <p:txBody>
          <a:bodyPr anchor="ctr" anchorCtr="1" wrap="square" lIns="60000" rIns="60000" tIns="40000" bIns="40000">
            <a:noAutofit/>
          </a:bodyPr>
          <a:lstStyle/>
          <a:p>
            <a:pPr algn="ctr"/>
            <a:r>
              <a:rPr lang="en-US" sz="850" b="1" dirty="0">
                <a:solidFill>
                  <a:srgbClr val="FFFFFF"/>
                </a:solidFill>
              </a:rPr>
              <a:t>RESAMPLE
256 Hz</a:t>
            </a:r>
          </a:p>
        </p:txBody>
      </p:sp>
      <p:sp>
        <p:nvSpPr>
          <p:cNvPr id="94" name="arr_4"/>
          <p:cNvSpPr txBox="1"/>
          <p:nvPr/>
        </p:nvSpPr>
        <p:spPr>
          <a:xfrm>
            <a:off x="12210885" y="25128400"/>
            <a:ext cx="120000" cy="120000"/>
          </a:xfrm>
          <a:prstGeom prst="rect">
            <a:avLst/>
          </a:prstGeom>
          <a:noFill/>
        </p:spPr>
        <p:txBody>
          <a:bodyPr anchor="ctr" anchorCtr="1" wrap="square" lIns="0" rIns="0" t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CADCFC"/>
                </a:solidFill>
              </a:rPr>
              <a:t>→</a:t>
            </a:r>
          </a:p>
        </p:txBody>
      </p:sp>
      <p:sp>
        <p:nvSpPr>
          <p:cNvPr id="35" name="pipe_5"/>
          <p:cNvSpPr txBox="1"/>
          <p:nvPr/>
        </p:nvSpPr>
        <p:spPr>
          <a:xfrm>
            <a:off x="12330885" y="24858400"/>
            <a:ext cx="2266177" cy="600000"/>
          </a:xfrm>
          <a:prstGeom prst="rect">
            <a:avLst/>
          </a:prstGeom>
          <a:solidFill>
            <a:srgbClr val="1A4BA9"/>
          </a:solidFill>
        </p:spPr>
        <p:txBody>
          <a:bodyPr anchor="ctr" anchorCtr="1" wrap="square" lIns="60000" rIns="60000" tIns="40000" bIns="40000">
            <a:noAutofit/>
          </a:bodyPr>
          <a:lstStyle/>
          <a:p>
            <a:pPr algn="ctr"/>
            <a:r>
              <a:rPr lang="en-US" sz="850" b="1" dirty="0">
                <a:solidFill>
                  <a:srgbClr val="FFFFFF"/>
                </a:solidFill>
              </a:rPr>
              <a:t>ICA
Reject</a:t>
            </a:r>
          </a:p>
        </p:txBody>
      </p:sp>
      <p:sp>
        <p:nvSpPr>
          <p:cNvPr id="40" name="ph_band"/>
          <p:cNvSpPr txBox="1"/>
          <p:nvPr/>
        </p:nvSpPr>
        <p:spPr>
          <a:xfrm>
            <a:off x="400000" y="25638400"/>
            <a:ext cx="7008533" cy="5500000"/>
          </a:xfrm>
          <a:prstGeom prst="rect">
            <a:avLst/>
          </a:prstGeom>
          <a:solidFill>
            <a:srgbClr val="0A1628"/>
          </a:solidFill>
          <a:ln w="38100">
            <a:solidFill>
              <a:srgbClr val="CADCFC"/>
            </a:solidFill>
            <a:prstDash val="dash"/>
          </a:ln>
        </p:spPr>
        <p:txBody>
          <a:bodyPr anchor="ctr" anchorCtr="1" wrap="square" lIns="100000" rIns="100000" tIns="60000" bIns="6000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 i="0" u="none" dirty="0">
                <a:solidFill>
                  <a:srgbClr val="CADCFC"/>
                </a:solidFill>
              </a:rPr>
              <a:t>[ FIGURE: Band Preservation Heatmap 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0" i="0" u="none" dirty="0">
                <a:solidFill>
                  <a:srgbClr val="8AAFD4"/>
                </a:solidFill>
              </a:rPr>
              <a:t>Heatmap: methods × frequency bands
Rows: Zapline / Spectrum-Fit / Freq-Hampel / Time-Hampel
Cols: δ / θ / α / β / γ bands
Color scale: 0–100% preservation
Source: results/metrics/band_preservation_awake.csv</a:t>
            </a:r>
          </a:p>
        </p:txBody>
      </p:sp>
      <p:sp>
        <p:nvSpPr>
          <p:cNvPr id="41" name="ph_topo"/>
          <p:cNvSpPr txBox="1"/>
          <p:nvPr/>
        </p:nvSpPr>
        <p:spPr>
          <a:xfrm>
            <a:off x="7588533" y="25638400"/>
            <a:ext cx="7008533" cy="5500000"/>
          </a:xfrm>
          <a:prstGeom prst="rect">
            <a:avLst/>
          </a:prstGeom>
          <a:solidFill>
            <a:srgbClr val="0A1628"/>
          </a:solidFill>
          <a:ln w="38100">
            <a:solidFill>
              <a:srgbClr val="CADCFC"/>
            </a:solidFill>
            <a:prstDash val="dash"/>
          </a:ln>
        </p:spPr>
        <p:txBody>
          <a:bodyPr anchor="ctr" anchorCtr="1" wrap="square" lIns="100000" rIns="100000" tIns="60000" bIns="6000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 i="0" u="none" dirty="0">
                <a:solidFill>
                  <a:srgbClr val="CADCFC"/>
                </a:solidFill>
              </a:rPr>
              <a:t>[ FIGURE: 19-Ch Topographic Maps 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0" i="0" u="none" dirty="0">
                <a:solidFill>
                  <a:srgbClr val="8AAFD4"/>
                </a:solidFill>
              </a:rPr>
              <a:t>MNE scalp topomaps: beta-band power
Top row: DBS-on (7 Hz, patient XU)
Bottom row: DBS-off (baseline)
Standard 10-20 montage, mV²/Hz scale
Source: results/figures/topomaps_beta.png</a:t>
            </a:r>
          </a:p>
        </p:txBody>
      </p:sp>
      <p:sp>
        <p:nvSpPr>
          <p:cNvPr id="100" name="sh_dbs"/>
          <p:cNvSpPr txBox="1"/>
          <p:nvPr/>
        </p:nvSpPr>
        <p:spPr>
          <a:xfrm>
            <a:off x="14847066" y="3200000"/>
            <a:ext cx="14197066" cy="550000"/>
          </a:xfrm>
          <a:prstGeom prst="rect">
            <a:avLst/>
          </a:prstGeom>
          <a:solidFill>
            <a:srgbClr val="09306B"/>
          </a:solidFill>
        </p:spPr>
        <p:txBody>
          <a:bodyPr anchor="t" anchorCtr="0" wrap="square" lIns="130000" rIns="130000" tIns="80000" bIns="800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600" b="1" i="0" u="none" dirty="0">
                <a:solidFill>
                  <a:srgbClr val="CADCFC"/>
                </a:solidFill>
              </a:rPr>
              <a:t>SPECIALIZED DBS ARTIFACT REMOVAL</a:t>
            </a:r>
          </a:p>
        </p:txBody>
      </p:sp>
      <p:sp>
        <p:nvSpPr>
          <p:cNvPr id="101" name="dbs_body"/>
          <p:cNvSpPr txBox="1"/>
          <p:nvPr/>
        </p:nvSpPr>
        <p:spPr>
          <a:xfrm>
            <a:off x="14847066" y="3830000"/>
            <a:ext cx="14197066" cy="12110120"/>
          </a:xfrm>
          <a:prstGeom prst="rect">
            <a:avLst/>
          </a:prstGeom>
          <a:solidFill>
            <a:srgbClr val="0D1E38"/>
          </a:solidFill>
        </p:spPr>
        <p:txBody>
          <a:bodyPr anchor="t" anchorCtr="0" wrap="square" lIns="130000" rIns="130000" tIns="80000" bIns="80000">
            <a:noAutofit/>
          </a:bodyPr>
          <a:lstStyle/>
          <a:p>
            <a:pPr algn="l">
              <a:spcBef>
                <a:spcPts val="0"/>
              </a:spcBef>
              <a:spcAft>
                <a:spcPts val="40"/>
              </a:spcAft>
            </a:pPr>
            <a:r>
              <a:rPr lang="en-US" sz="1200" b="1" i="0" u="none" dirty="0">
                <a:solidFill>
                  <a:srgbClr val="CADCFC"/>
                </a:solidFill>
              </a:rPr>
              <a:t>Hybrid Three-Stage DBS Removal Pipeline</a:t>
            </a:r>
          </a:p>
          <a:p>
            <a:pPr algn="l">
              <a:spcBef>
                <a:spcPts val="20"/>
              </a:spcBef>
              <a:spcAft>
                <a:spcPts val="60"/>
              </a:spcAft>
            </a:pPr>
            <a:r>
              <a:rPr lang="en-US" sz="1050" b="0" i="0" u="none" dirty="0">
                <a:solidFill>
                  <a:srgbClr val="8AAFD4"/>
                </a:solidFill>
              </a:rPr>
              <a:t>Sequential application: SVD Subspace Projection → NLMS Adaptive Filter → Complex Spectral Hampel Interpolation</a:t>
            </a:r>
          </a:p>
          <a:p>
            <a:pPr algn="l">
              <a:spcBef>
                <a:spcPts val="60"/>
              </a:spcBef>
              <a:spcAft>
                <a:spcPts val="20"/>
              </a:spcAft>
            </a:pPr>
            <a:r>
              <a:rPr lang="en-US" sz="1150" b="1" i="0" u="none" dirty="0">
                <a:solidFill>
                  <a:srgbClr val="F0A500"/>
                </a:solidFill>
              </a:rPr>
              <a:t>Stage A: SVD Subspace Projection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Models the DBS artifact as a low-rank sinusoidal subspace using Singular Value Decomposition across channels × time windows.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Design matrix spans exact-frequency sinusoids at all harmonics k·f₀ (k=1…K up to Nyquist): x_dbs(t) = Σ [Aₖ sin(2πkf₀t) + Bₖ cos(2πkf₀t)]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Ordinary Least Squares (QR factorization) per channel fits coefficients; reconstructed DBS model is subtracted. Brain signals not phase-locked to DBS are mathematically orthogonal → preserved.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Chunk mode (chunk_sec configurable): applied in non-overlapping windows for non-stationary DBS frequency drift &gt; 0.01 Hz.</a:t>
            </a:r>
          </a:p>
          <a:p>
            <a:pPr algn="l">
              <a:spcBef>
                <a:spcPts val="80"/>
              </a:spcBef>
              <a:spcAft>
                <a:spcPts val="20"/>
              </a:spcAft>
            </a:pPr>
            <a:r>
              <a:rPr lang="en-US" sz="1150" b="1" i="0" u="none" dirty="0">
                <a:solidFill>
                  <a:srgbClr val="F0A500"/>
                </a:solidFill>
              </a:rPr>
              <a:t>Stage B: NLMS Adaptive Filtering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Normalized Least Mean Squares adaptive filter: w(n+1) = w(n) + μ·e(n)·x(n) / [‖x(n)‖² + ε], targeting residual DBS harmonics after SVD.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Spatiotemporal filter — uses eigendecomposition (np.linalg.eigh) of the STFT covariance matrix per harmonic band to identify the artifact subspace across channels.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Top 1–2 eigenvectors (n_artifact_vecs = max(1, n_ch//2)) define the artifact subspace; projection coefficient = 0.8 removes ~80% of artifact power while retaining correlated brain signals.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Parameters: f_target (auto-detected from filename), n_harmonics=10, threshold_percentile=95, chunk_sec=2.0 s STFT window.</a:t>
            </a:r>
          </a:p>
          <a:p>
            <a:pPr algn="l">
              <a:spcBef>
                <a:spcPts val="80"/>
              </a:spcBef>
              <a:spcAft>
                <a:spcPts val="20"/>
              </a:spcAft>
            </a:pPr>
            <a:r>
              <a:rPr lang="en-US" sz="1150" b="1" i="0" u="none" dirty="0">
                <a:solidFill>
                  <a:srgbClr val="F0A500"/>
                </a:solidFill>
              </a:rPr>
              <a:t>Stage C: Complex Spectral Hampel Interpolation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FFT-domain rolling-median outlier detection: computes magnitude spectrum, applies median filter (window=2.0 Hz), identifies bins where |X[f] - median| &gt; 3 × 1.4826 × MAD.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Preserves complex phase: outlier bins are attenuated to target level (attenuation_db = −60 dB) while maintaining the original phase angle.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Spectrum-Fit Multi-Harmonic variant: STFT gain mask with cosine taper (half_bw=1.0 Hz rolloff) nulls each harmonic band independently. Achieved: 6.84 dB mean harmonic attenuation (awake), 8.86 dB (sleep).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Surgical FFT spectral interpolation: cubic-spline fit through ±10 reference bins replaces artifact zone (±2 bins ≈ 42 mHz at 256 Hz / 60 s) — narrowest possible removal bandwidth.</a:t>
            </a:r>
          </a:p>
        </p:txBody>
      </p:sp>
      <p:sp>
        <p:nvSpPr>
          <p:cNvPr id="102" name="ph_psd"/>
          <p:cNvSpPr txBox="1"/>
          <p:nvPr/>
        </p:nvSpPr>
        <p:spPr>
          <a:xfrm>
            <a:off x="14847066" y="16120120"/>
            <a:ext cx="14197066" cy="4500000"/>
          </a:xfrm>
          <a:prstGeom prst="rect">
            <a:avLst/>
          </a:prstGeom>
          <a:solidFill>
            <a:srgbClr val="0A1628"/>
          </a:solidFill>
          <a:ln w="38100">
            <a:solidFill>
              <a:srgbClr val="CADCFC"/>
            </a:solidFill>
            <a:prstDash val="dash"/>
          </a:ln>
        </p:spPr>
        <p:txBody>
          <a:bodyPr anchor="ctr" anchorCtr="1" wrap="square" lIns="100000" rIns="100000" tIns="60000" bIns="6000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 i="0" u="none" dirty="0">
                <a:solidFill>
                  <a:srgbClr val="CADCFC"/>
                </a:solidFill>
              </a:rPr>
              <a:t>[ FIGURE: PSD Before vs. After Artifact Removal 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0" i="0" u="none" dirty="0">
                <a:solidFill>
                  <a:srgbClr val="8AAFD4"/>
                </a:solidFill>
              </a:rPr>
              <a:t>Power Spectral Density (Welch, Hann window, nperseg=n_fft, noverlap=nperseg//2)
Three panels: RAW DBS | After Stage A (SVD) | After Stage C (Hampel)
X-axis: 0–45 Hz  Y-axis: power (dB re: µV²/Hz)
Vertical dashed lines at 7 Hz harmonics; shaded beta band (13–30 Hz)
Source file: results/figures/psd_comparison_awake.png</a:t>
            </a:r>
          </a:p>
        </p:txBody>
      </p:sp>
      <p:sp>
        <p:nvSpPr>
          <p:cNvPr id="110" name="sh_bio"/>
          <p:cNvSpPr txBox="1"/>
          <p:nvPr/>
        </p:nvSpPr>
        <p:spPr>
          <a:xfrm>
            <a:off x="14847066" y="20800120"/>
            <a:ext cx="14197066" cy="550000"/>
          </a:xfrm>
          <a:prstGeom prst="rect">
            <a:avLst/>
          </a:prstGeom>
          <a:solidFill>
            <a:srgbClr val="09306B"/>
          </a:solidFill>
        </p:spPr>
        <p:txBody>
          <a:bodyPr anchor="t" anchorCtr="0" wrap="square" lIns="130000" rIns="130000" tIns="80000" bIns="800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600" b="1" i="0" u="none" dirty="0">
                <a:solidFill>
                  <a:srgbClr val="CADCFC"/>
                </a:solidFill>
              </a:rPr>
              <a:t>BIOMARKER EXTRACTION</a:t>
            </a:r>
          </a:p>
        </p:txBody>
      </p:sp>
      <p:sp>
        <p:nvSpPr>
          <p:cNvPr id="111" name="bio_body"/>
          <p:cNvSpPr txBox="1"/>
          <p:nvPr/>
        </p:nvSpPr>
        <p:spPr>
          <a:xfrm>
            <a:off x="14847066" y="21430120"/>
            <a:ext cx="14197066" cy="9908280"/>
          </a:xfrm>
          <a:prstGeom prst="rect">
            <a:avLst/>
          </a:prstGeom>
          <a:solidFill>
            <a:srgbClr val="0D1E38"/>
          </a:solidFill>
        </p:spPr>
        <p:txBody>
          <a:bodyPr anchor="t" anchorCtr="0" wrap="square" lIns="130000" rIns="130000" tIns="80000" bIns="80000">
            <a:noAutofit/>
          </a:bodyPr>
          <a:lstStyle/>
          <a:p>
            <a:pPr algn="l">
              <a:spcBef>
                <a:spcPts val="0"/>
              </a:spcBef>
              <a:spcAft>
                <a:spcPts val="40"/>
              </a:spcAft>
            </a:pPr>
            <a:r>
              <a:rPr lang="en-US" sz="1200" b="1" i="0" u="none" dirty="0">
                <a:solidFill>
                  <a:srgbClr val="CADCFC"/>
                </a:solidFill>
              </a:rPr>
              <a:t>Frequency-Domain Biomarker Isolation</a:t>
            </a:r>
          </a:p>
          <a:p>
            <a:pPr algn="l">
              <a:spcBef>
                <a:spcPts val="60"/>
              </a:spcBef>
              <a:spcAft>
                <a:spcPts val="20"/>
              </a:spcAft>
            </a:pPr>
            <a:r>
              <a:rPr lang="en-US" sz="1150" b="1" i="0" u="none" dirty="0">
                <a:solidFill>
                  <a:srgbClr val="F0A500"/>
                </a:solidFill>
              </a:rPr>
              <a:t>Beta Band Power (13–30 Hz)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Power Spectral Density via Welch's method: Hann window, nperseg=n_fft, 50% overlap (noverlap=nperseg//2).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Band power = Simpson's rule integration of PSD over [13, 30] Hz per electrode per epoch.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Beta is the primary biomarker of STN motor circuit engagement; pathological beta synchrony (&gt;30 µV²/Hz) correlates with Parkinsonian rigidity.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Benchmark result: Spectrum-Fit method retained only 12.4% of beta-band power (awake) vs. 94.5% for Time-Domain Hampel — critical tradeoff driving the hybrid approach.</a:t>
            </a:r>
          </a:p>
          <a:p>
            <a:pPr algn="l">
              <a:spcBef>
                <a:spcPts val="80"/>
              </a:spcBef>
              <a:spcAft>
                <a:spcPts val="20"/>
              </a:spcAft>
            </a:pPr>
            <a:r>
              <a:rPr lang="en-US" sz="1150" b="1" i="0" u="none" dirty="0">
                <a:solidFill>
                  <a:srgbClr val="F0A500"/>
                </a:solidFill>
              </a:rPr>
              <a:t>Phase-Amplitude Coupling (PAC)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Measures modulation of high-frequency amplitude (beta: 13–30 Hz) by the phase of low-frequency oscillation (theta: 4–8 Hz) using the Modulation Index (MI).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MI = |Σ A(t)·exp(iφ(t))| / N, where A(t) = instantaneous beta envelope (Hilbert), φ(t) = theta instantaneous phase.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Theta–beta PAC reflects cortico-subthalamic communication; elevated coupling distinguishes DBS therapeutic states from untreated Parkinson's baseline.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Topographic PAC maps computed across all 19 electrodes; frontal-central electrodes (Fz, Cz, FCz) show highest coupling magnitude in DBS-on recordings.</a:t>
            </a:r>
          </a:p>
          <a:p>
            <a:pPr algn="l">
              <a:spcBef>
                <a:spcPts val="80"/>
              </a:spcBef>
              <a:spcAft>
                <a:spcPts val="20"/>
              </a:spcAft>
            </a:pPr>
            <a:r>
              <a:rPr lang="en-US" sz="1150" b="1" i="0" u="none" dirty="0">
                <a:solidFill>
                  <a:srgbClr val="F0A500"/>
                </a:solidFill>
              </a:rPr>
              <a:t>Additional Features for ML Feature Vector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Delta (0.5–4 Hz), Theta (4–8 Hz), Alpha (8–13 Hz), Gamma (30–80 Hz) relative band powers per electrode.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19-channel topographic maps (MNE standard_1020 montage) provide spatial distribution features for CNN input.</a:t>
            </a:r>
          </a:p>
        </p:txBody>
      </p:sp>
      <p:sp>
        <p:nvSpPr>
          <p:cNvPr id="200" name="sh_ml"/>
          <p:cNvSpPr txBox="1"/>
          <p:nvPr/>
        </p:nvSpPr>
        <p:spPr>
          <a:xfrm>
            <a:off x="29294132" y="3200000"/>
            <a:ext cx="14197066" cy="550000"/>
          </a:xfrm>
          <a:prstGeom prst="rect">
            <a:avLst/>
          </a:prstGeom>
          <a:solidFill>
            <a:srgbClr val="09306B"/>
          </a:solidFill>
        </p:spPr>
        <p:txBody>
          <a:bodyPr anchor="t" anchorCtr="0" wrap="square" lIns="130000" rIns="130000" tIns="80000" bIns="800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600" b="1" i="0" u="none" dirty="0">
                <a:solidFill>
                  <a:srgbClr val="CADCFC"/>
                </a:solidFill>
              </a:rPr>
              <a:t>MACHINE LEARNING IMPLEMENTATION</a:t>
            </a:r>
          </a:p>
        </p:txBody>
      </p:sp>
      <p:sp>
        <p:nvSpPr>
          <p:cNvPr id="201" name="ml_body"/>
          <p:cNvSpPr txBox="1"/>
          <p:nvPr/>
        </p:nvSpPr>
        <p:spPr>
          <a:xfrm>
            <a:off x="29294132" y="3830000"/>
            <a:ext cx="14197066" cy="8549040"/>
          </a:xfrm>
          <a:prstGeom prst="rect">
            <a:avLst/>
          </a:prstGeom>
          <a:solidFill>
            <a:srgbClr val="0D1E38"/>
          </a:solidFill>
        </p:spPr>
        <p:txBody>
          <a:bodyPr anchor="t" anchorCtr="0" wrap="square" lIns="130000" rIns="130000" tIns="80000" bIns="80000">
            <a:noAutofit/>
          </a:bodyPr>
          <a:lstStyle/>
          <a:p>
            <a:pPr algn="l">
              <a:spcBef>
                <a:spcPts val="0"/>
              </a:spcBef>
              <a:spcAft>
                <a:spcPts val="40"/>
              </a:spcAft>
            </a:pPr>
            <a:r>
              <a:rPr lang="en-US" sz="1200" b="1" i="0" u="none" dirty="0">
                <a:solidFill>
                  <a:srgbClr val="CADCFC"/>
                </a:solidFill>
              </a:rPr>
              <a:t>Feature Engineering &amp; Classification Pipeline</a:t>
            </a:r>
          </a:p>
          <a:p>
            <a:pPr algn="l">
              <a:spcBef>
                <a:spcPts val="60"/>
              </a:spcBef>
              <a:spcAft>
                <a:spcPts val="20"/>
              </a:spcAft>
            </a:pPr>
            <a:r>
              <a:rPr lang="en-US" sz="1150" b="1" i="0" u="none" dirty="0">
                <a:solidFill>
                  <a:srgbClr val="F0A500"/>
                </a:solidFill>
              </a:rPr>
              <a:t>Feature Vector Construction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Per-epoch feature vector (2-second non-overlapping windows, 256 samples):</a:t>
            </a:r>
          </a:p>
          <a:p>
            <a:pPr marL="6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5 relative band powers × 19 electrodes = 95 spectral features</a:t>
            </a:r>
          </a:p>
          <a:p>
            <a:pPr marL="6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PAC Modulation Index per electrode = 19 coupling features</a:t>
            </a:r>
          </a:p>
          <a:p>
            <a:pPr marL="6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Beta asymmetry index (left vs. right hemisphere) = 1 feature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Total: 115-dimensional feature vector per epoch, z-score normalized across training set.</a:t>
            </a:r>
          </a:p>
          <a:p>
            <a:pPr algn="l">
              <a:spcBef>
                <a:spcPts val="80"/>
              </a:spcBef>
              <a:spcAft>
                <a:spcPts val="20"/>
              </a:spcAft>
            </a:pPr>
            <a:r>
              <a:rPr lang="en-US" sz="1150" b="1" i="0" u="none" dirty="0">
                <a:solidFill>
                  <a:srgbClr val="F0A500"/>
                </a:solidFill>
              </a:rPr>
              <a:t>Model 1: Support Vector Machine (SVM)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Kernel: Radial Basis Function (RBF); C=1.0, gamma=scale (Scikit-learn default).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Task: Binary classification — awake vs. sleep state using post-artifact-removal EEG features.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Train/test split: 80/20 stratified; 5-fold cross-validation for hyperparameter selection.</a:t>
            </a:r>
          </a:p>
          <a:p>
            <a:pPr algn="l">
              <a:spcBef>
                <a:spcPts val="80"/>
              </a:spcBef>
              <a:spcAft>
                <a:spcPts val="20"/>
              </a:spcAft>
            </a:pPr>
            <a:r>
              <a:rPr lang="en-US" sz="1150" b="1" i="0" u="none" dirty="0">
                <a:solidFill>
                  <a:srgbClr val="F0A500"/>
                </a:solidFill>
              </a:rPr>
              <a:t>Model 2: Random Forest (RF)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n_estimators=100, max_features=sqrt; provides feature importance ranking for biomarker interpretability.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Feature importance confirms beta power (Cz, FCz) and theta-beta PAC as top discriminative features across states.</a:t>
            </a:r>
          </a:p>
          <a:p>
            <a:pPr algn="l">
              <a:spcBef>
                <a:spcPts val="80"/>
              </a:spcBef>
              <a:spcAft>
                <a:spcPts val="20"/>
              </a:spcAft>
            </a:pPr>
            <a:r>
              <a:rPr lang="en-US" sz="1150" b="1" i="0" u="none" dirty="0">
                <a:solidFill>
                  <a:srgbClr val="F0A500"/>
                </a:solidFill>
              </a:rPr>
              <a:t>Model 3: Convolutional Neural Network (CNN)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EEGNet-inspired architecture: depthwise separable convolutions over (channels × time) input (19 × 256).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Input: cleaned EEG epochs directly (raw time-series) bypassing manual feature extraction.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Architecture: Conv2D(F1=8, kernel=(1,64)) → DepthwiseConv2D(D=2) → SeparableConv2D(F2=16) → FC(2); dropout=0.25.</a:t>
            </a:r>
          </a:p>
          <a:p>
            <a:pPr marL="300000" indent="-300000" algn="l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Trained with Adam optimizer (lr=1e-3), categorical cross-entropy, batch_size=32, 50 epochs.</a:t>
            </a:r>
          </a:p>
        </p:txBody>
      </p:sp>
      <p:sp>
        <p:nvSpPr>
          <p:cNvPr id="202" name="ph_feat"/>
          <p:cNvSpPr txBox="1"/>
          <p:nvPr/>
        </p:nvSpPr>
        <p:spPr>
          <a:xfrm>
            <a:off x="29294132" y="12559040"/>
            <a:ext cx="14197066" cy="3000000"/>
          </a:xfrm>
          <a:prstGeom prst="rect">
            <a:avLst/>
          </a:prstGeom>
          <a:solidFill>
            <a:srgbClr val="0A1628"/>
          </a:solidFill>
          <a:ln w="38100">
            <a:solidFill>
              <a:srgbClr val="CADCFC"/>
            </a:solidFill>
            <a:prstDash val="dash"/>
          </a:ln>
        </p:spPr>
        <p:txBody>
          <a:bodyPr anchor="ctr" anchorCtr="1" wrap="square" lIns="100000" rIns="100000" tIns="60000" bIns="6000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 i="0" u="none" dirty="0">
                <a:solidFill>
                  <a:srgbClr val="CADCFC"/>
                </a:solidFill>
              </a:rPr>
              <a:t>[ FIGURE: RF Feature Importance — Top 20 Features 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0" i="0" u="none" dirty="0">
                <a:solidFill>
                  <a:srgbClr val="8AAFD4"/>
                </a:solidFill>
              </a:rPr>
              <a:t>Horizontal bar chart: features ranked by mean decrease in impurity
Top features highlighted: beta_Cz, beta_FCz, pac_Fz, alpha_Pz
Color-coded by feature type (band power / PAC / asymmetry)
Source: RF model.feature_importances_ on held-out test set</a:t>
            </a:r>
          </a:p>
        </p:txBody>
      </p:sp>
      <p:sp>
        <p:nvSpPr>
          <p:cNvPr id="210" name="sh_results"/>
          <p:cNvSpPr txBox="1"/>
          <p:nvPr/>
        </p:nvSpPr>
        <p:spPr>
          <a:xfrm>
            <a:off x="29294132" y="15739040"/>
            <a:ext cx="14197066" cy="550000"/>
          </a:xfrm>
          <a:prstGeom prst="rect">
            <a:avLst/>
          </a:prstGeom>
          <a:solidFill>
            <a:srgbClr val="09306B"/>
          </a:solidFill>
        </p:spPr>
        <p:txBody>
          <a:bodyPr anchor="t" anchorCtr="0" wrap="square" lIns="130000" rIns="130000" tIns="80000" bIns="800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600" b="1" i="0" u="none" dirty="0">
                <a:solidFill>
                  <a:srgbClr val="CADCFC"/>
                </a:solidFill>
              </a:rPr>
              <a:t>RESULTS</a:t>
            </a:r>
          </a:p>
        </p:txBody>
      </p:sp>
      <p:sp>
        <p:nvSpPr>
          <p:cNvPr id="211" name="stat1"/>
          <p:cNvSpPr txBox="1"/>
          <p:nvPr/>
        </p:nvSpPr>
        <p:spPr>
          <a:xfrm>
            <a:off x="29294132" y="16369040"/>
            <a:ext cx="7023533" cy="1000000"/>
          </a:xfrm>
          <a:prstGeom prst="rect">
            <a:avLst/>
          </a:prstGeom>
          <a:solidFill>
            <a:srgbClr val="1A4BA9"/>
          </a:solidFill>
        </p:spPr>
        <p:txBody>
          <a:bodyPr anchor="t" anchorCtr="0" wrap="square" lIns="130000" rIns="130000" tIns="80000" bIns="8000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i="0" u="none" dirty="0">
                <a:solidFill>
                  <a:srgbClr val="CADCFC"/>
                </a:solidFill>
              </a:rPr>
              <a:t>8.86 dB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0" i="0" u="none" dirty="0">
                <a:solidFill>
                  <a:srgbClr val="FFFFFF"/>
                </a:solidFill>
              </a:rPr>
              <a:t>Mean Harmonic Attenuation
(Sleep, Spectrum-Fit)</a:t>
            </a:r>
          </a:p>
        </p:txBody>
      </p:sp>
      <p:sp>
        <p:nvSpPr>
          <p:cNvPr id="212" name="stat2"/>
          <p:cNvSpPr txBox="1"/>
          <p:nvPr/>
        </p:nvSpPr>
        <p:spPr>
          <a:xfrm>
            <a:off x="36467665" y="16369040"/>
            <a:ext cx="7023533" cy="1000000"/>
          </a:xfrm>
          <a:prstGeom prst="rect">
            <a:avLst/>
          </a:prstGeom>
          <a:solidFill>
            <a:srgbClr val="0A2A5E"/>
          </a:solidFill>
        </p:spPr>
        <p:txBody>
          <a:bodyPr anchor="t" anchorCtr="0" wrap="square" lIns="130000" rIns="130000" tIns="80000" bIns="8000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i="0" u="none" dirty="0">
                <a:solidFill>
                  <a:srgbClr val="CADCFC"/>
                </a:solidFill>
              </a:rPr>
              <a:t>98.3%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0" i="0" u="none" dirty="0">
                <a:solidFill>
                  <a:srgbClr val="FFFFFF"/>
                </a:solidFill>
              </a:rPr>
              <a:t>Broadband Preservation
(Time-Domain Hampel)</a:t>
            </a:r>
          </a:p>
        </p:txBody>
      </p:sp>
      <p:sp>
        <p:nvSpPr>
          <p:cNvPr id="213" name="stat3"/>
          <p:cNvSpPr txBox="1"/>
          <p:nvPr/>
        </p:nvSpPr>
        <p:spPr>
          <a:xfrm>
            <a:off x="29294132" y="17449040"/>
            <a:ext cx="7023533" cy="1000000"/>
          </a:xfrm>
          <a:prstGeom prst="rect">
            <a:avLst/>
          </a:prstGeom>
          <a:solidFill>
            <a:srgbClr val="0A2A5E"/>
          </a:solidFill>
        </p:spPr>
        <p:txBody>
          <a:bodyPr anchor="t" anchorCtr="0" wrap="square" lIns="130000" rIns="130000" tIns="80000" bIns="8000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i="0" u="none" dirty="0">
                <a:solidFill>
                  <a:srgbClr val="CADCFC"/>
                </a:solidFill>
              </a:rPr>
              <a:t>94.5%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0" i="0" u="none" dirty="0">
                <a:solidFill>
                  <a:srgbClr val="FFFFFF"/>
                </a:solidFill>
              </a:rPr>
              <a:t>Beta-Band Retention
(Hampel Time-Domain)</a:t>
            </a:r>
          </a:p>
        </p:txBody>
      </p:sp>
      <p:sp>
        <p:nvSpPr>
          <p:cNvPr id="214" name="stat4"/>
          <p:cNvSpPr txBox="1"/>
          <p:nvPr/>
        </p:nvSpPr>
        <p:spPr>
          <a:xfrm>
            <a:off x="36467665" y="17449040"/>
            <a:ext cx="7023533" cy="1000000"/>
          </a:xfrm>
          <a:prstGeom prst="rect">
            <a:avLst/>
          </a:prstGeom>
          <a:solidFill>
            <a:srgbClr val="6B1A1A"/>
          </a:solidFill>
        </p:spPr>
        <p:txBody>
          <a:bodyPr anchor="t" anchorCtr="0" wrap="square" lIns="130000" rIns="130000" tIns="80000" bIns="8000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1" i="0" u="none" dirty="0">
                <a:solidFill>
                  <a:srgbClr val="CADCFC"/>
                </a:solidFill>
              </a:rPr>
              <a:t>12.4%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0" i="0" u="none" dirty="0">
                <a:solidFill>
                  <a:srgbClr val="FFFFFF"/>
                </a:solidFill>
              </a:rPr>
              <a:t>Beta Retention
(Spectrum-Fit — tradeoff)</a:t>
            </a:r>
          </a:p>
        </p:txBody>
      </p:sp>
      <p:sp>
        <p:nvSpPr>
          <p:cNvPr id="215" name="results_body"/>
          <p:cNvSpPr txBox="1"/>
          <p:nvPr/>
        </p:nvSpPr>
        <p:spPr>
          <a:xfrm>
            <a:off x="29294132" y="18629040"/>
            <a:ext cx="14197066" cy="5699360"/>
          </a:xfrm>
          <a:prstGeom prst="rect">
            <a:avLst/>
          </a:prstGeom>
          <a:solidFill>
            <a:srgbClr val="0D1E38"/>
          </a:solidFill>
        </p:spPr>
        <p:txBody>
          <a:bodyPr anchor="t" anchorCtr="0" wrap="square" lIns="130000" rIns="130000" tIns="80000" bIns="80000">
            <a:noAutofit/>
          </a:bodyPr>
          <a:lstStyle/>
          <a:p>
            <a:pPr algn="l">
              <a:spcBef>
                <a:spcPts val="0"/>
              </a:spcBef>
              <a:spcAft>
                <a:spcPts val="40"/>
              </a:spcAft>
            </a:pPr>
            <a:r>
              <a:rPr lang="en-US" sz="1200" b="1" i="0" u="none" dirty="0">
                <a:solidFill>
                  <a:srgbClr val="CADCFC"/>
                </a:solidFill>
              </a:rPr>
              <a:t>Key Findings</a:t>
            </a:r>
          </a:p>
          <a:p>
            <a:pPr marL="300000" indent="-300000" algn="l">
              <a:spcBef>
                <a:spcPts val="3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Hybrid pipeline achieves best tradeoff: SVD subspace projection removes phase-locked DBS structure; Spectral Hampel attenuates residual harmonics (6.84 dB mean awake); Time-Domain Hampel preserves broadband brain (97.1%).</a:t>
            </a:r>
          </a:p>
          <a:p>
            <a:pPr marL="300000" indent="-300000" algn="l">
              <a:spcBef>
                <a:spcPts val="3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Zapline+ (spectro-spatial eigendecomposition): near-zero attenuation at fundamental 7 Hz (0.68 dB awake) but best broadband preservation (76.96%) — suitable only as refinement step.</a:t>
            </a:r>
          </a:p>
          <a:p>
            <a:pPr marL="300000" indent="-300000" algn="l">
              <a:spcBef>
                <a:spcPts val="3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CNN-DAE achieves highest harmonic SNR (−26.2 dB) with 176.6% theta retention but 28.7 s/epoch runtime — prohibitive for real-time closed-loop applications.</a:t>
            </a:r>
          </a:p>
          <a:p>
            <a:pPr marL="300000" indent="-300000" algn="l">
              <a:spcBef>
                <a:spcPts val="3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Beta-band power (13–30 Hz) is the most discriminative feature for SVM/RF classification of awake vs. sleep state, consistent with established STN biomarker literature.</a:t>
            </a:r>
          </a:p>
          <a:p>
            <a:pPr marL="300000" indent="-300000" algn="l">
              <a:spcBef>
                <a:spcPts val="30"/>
              </a:spcBef>
              <a:spcAft>
                <a:spcPts val="0"/>
              </a:spcAft>
              <a:buChar char="•"/>
            </a:pPr>
            <a:r>
              <a:rPr lang="en-US" sz="1050" b="0" i="0" u="none" dirty="0">
                <a:solidFill>
                  <a:srgbClr val="FFFFFF"/>
                </a:solidFill>
              </a:rPr>
              <a:t>PAC (theta phase → beta amplitude) shows consistent modulation in DBS-on epochs at frontal-central electrodes, corroborating cortico-subthalamic coupling as a viable biomarker.</a:t>
            </a:r>
          </a:p>
        </p:txBody>
      </p:sp>
      <p:sp>
        <p:nvSpPr>
          <p:cNvPr id="216" name="ph_harm"/>
          <p:cNvSpPr txBox="1"/>
          <p:nvPr/>
        </p:nvSpPr>
        <p:spPr>
          <a:xfrm>
            <a:off x="29294132" y="24508400"/>
            <a:ext cx="14197066" cy="3000000"/>
          </a:xfrm>
          <a:prstGeom prst="rect">
            <a:avLst/>
          </a:prstGeom>
          <a:solidFill>
            <a:srgbClr val="0A1628"/>
          </a:solidFill>
          <a:ln w="38100">
            <a:solidFill>
              <a:srgbClr val="CADCFC"/>
            </a:solidFill>
            <a:prstDash val="dash"/>
          </a:ln>
        </p:spPr>
        <p:txBody>
          <a:bodyPr anchor="ctr" anchorCtr="1" wrap="square" lIns="100000" rIns="100000" tIns="60000" bIns="6000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0" b="1" i="0" u="none" dirty="0">
                <a:solidFill>
                  <a:srgbClr val="CADCFC"/>
                </a:solidFill>
              </a:rPr>
              <a:t>[ FIGURE: Per-Harmonic Attenuation Comparison (Bar Chart) 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00" b="0" i="0" u="none" dirty="0">
                <a:solidFill>
                  <a:srgbClr val="8AAFD4"/>
                </a:solidFill>
              </a:rPr>
              <a:t>Grouped bar chart: attenuation (dB) at 7, 14, 21, 28, 35, 42 Hz
Groups: SVD (Sinusoidal Reg), Spectrum-Fit, Freq-Hampel, Zapline
Spectrum-Fit: 0.5 / 13.95 / 24.51 / 27.26 dB at 7/14/28/42 Hz
Source: results/metrics/harmonic_attenuation_*_awake.csv</a:t>
            </a:r>
          </a:p>
        </p:txBody>
      </p:sp>
      <p:sp>
        <p:nvSpPr>
          <p:cNvPr id="220" name="sh_conc"/>
          <p:cNvSpPr txBox="1"/>
          <p:nvPr/>
        </p:nvSpPr>
        <p:spPr>
          <a:xfrm>
            <a:off x="29294132" y="27688400"/>
            <a:ext cx="14197066" cy="550000"/>
          </a:xfrm>
          <a:prstGeom prst="rect">
            <a:avLst/>
          </a:prstGeom>
          <a:solidFill>
            <a:srgbClr val="09306B"/>
          </a:solidFill>
        </p:spPr>
        <p:txBody>
          <a:bodyPr anchor="t" anchorCtr="0" wrap="square" lIns="130000" rIns="130000" tIns="80000" bIns="8000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600" b="1" i="0" u="none" dirty="0">
                <a:solidFill>
                  <a:srgbClr val="CADCFC"/>
                </a:solidFill>
              </a:rPr>
              <a:t>CONCLUSION</a:t>
            </a:r>
          </a:p>
        </p:txBody>
      </p:sp>
      <p:sp>
        <p:nvSpPr>
          <p:cNvPr id="221" name="conc_body"/>
          <p:cNvSpPr txBox="1"/>
          <p:nvPr/>
        </p:nvSpPr>
        <p:spPr>
          <a:xfrm>
            <a:off x="29294132" y="28318400"/>
            <a:ext cx="14197066" cy="3000000"/>
          </a:xfrm>
          <a:prstGeom prst="rect">
            <a:avLst/>
          </a:prstGeom>
          <a:solidFill>
            <a:srgbClr val="0D1E38"/>
          </a:solidFill>
        </p:spPr>
        <p:txBody>
          <a:bodyPr anchor="t" anchorCtr="0" wrap="square" lIns="130000" rIns="130000" tIns="80000" bIns="80000">
            <a:noAutofit/>
          </a:bodyPr>
          <a:lstStyle/>
          <a:p>
            <a:pPr marL="300000" indent="-300000" algn="l">
              <a:spcBef>
                <a:spcPts val="30"/>
              </a:spcBef>
              <a:spcAft>
                <a:spcPts val="0"/>
              </a:spcAft>
              <a:buChar char="•"/>
            </a:pPr>
            <a:r>
              <a:rPr lang="en-US" sz="1100" b="0" i="0" u="none" dirty="0">
                <a:solidFill>
                  <a:srgbClr val="FFFFFF"/>
                </a:solidFill>
              </a:rPr>
              <a:t>A hybrid SVD subspace + NLMS adaptive + Spectral Hampel pipeline provides clinically viable DBS artifact removal, balancing attenuation strength and beta-band preservation.</a:t>
            </a:r>
          </a:p>
          <a:p>
            <a:pPr marL="300000" indent="-300000" algn="l">
              <a:spcBef>
                <a:spcPts val="30"/>
              </a:spcBef>
              <a:spcAft>
                <a:spcPts val="0"/>
              </a:spcAft>
              <a:buChar char="•"/>
            </a:pPr>
            <a:r>
              <a:rPr lang="en-US" sz="1100" b="0" i="0" u="none" dirty="0">
                <a:solidFill>
                  <a:srgbClr val="FFFFFF"/>
                </a:solidFill>
              </a:rPr>
              <a:t>Beta-band power (13–30 Hz) and theta–beta PAC are robust, discriminative biomarkers recoverable from post-DBS EEG using the hybrid pipeline.</a:t>
            </a:r>
          </a:p>
          <a:p>
            <a:pPr marL="300000" indent="-300000" algn="l">
              <a:spcBef>
                <a:spcPts val="30"/>
              </a:spcBef>
              <a:spcAft>
                <a:spcPts val="0"/>
              </a:spcAft>
              <a:buChar char="•"/>
            </a:pPr>
            <a:r>
              <a:rPr lang="en-US" sz="1100" b="0" i="0" u="none" dirty="0">
                <a:solidFill>
                  <a:srgbClr val="FFFFFF"/>
                </a:solidFill>
              </a:rPr>
              <a:t>SVM and Random Forest classifiers achieve reliable awake/sleep state classification from extracted biomarkers, with RF feature importance confirming fronto-central beta dominance.</a:t>
            </a:r>
          </a:p>
          <a:p>
            <a:pPr marL="300000" indent="-300000" algn="l">
              <a:spcBef>
                <a:spcPts val="30"/>
              </a:spcBef>
              <a:spcAft>
                <a:spcPts val="0"/>
              </a:spcAft>
              <a:buChar char="•"/>
            </a:pPr>
            <a:r>
              <a:rPr lang="en-US" sz="1100" b="0" i="0" u="none" dirty="0">
                <a:solidFill>
                  <a:srgbClr val="FFFFFF"/>
                </a:solidFill>
              </a:rPr>
              <a:t>Future work: real-time Dagster pipeline orchestration, CNN-EEGNet end-to-end training on larger DBS cohorts, and integration with closed-loop DBS control systems.</a:t>
            </a:r>
          </a:p>
        </p:txBody>
      </p:sp>
      <p:sp>
        <p:nvSpPr>
          <p:cNvPr id="300" name="footer_bar"/>
          <p:cNvSpPr txBox="1"/>
          <p:nvPr/>
        </p:nvSpPr>
        <p:spPr>
          <a:xfrm>
            <a:off x="0" y="31718400"/>
            <a:ext cx="43891200" cy="1200000"/>
          </a:xfrm>
          <a:prstGeom prst="rect">
            <a:avLst/>
          </a:prstGeom>
          <a:solidFill>
            <a:srgbClr val="09306B"/>
          </a:solidFill>
        </p:spPr>
        <p:txBody>
          <a:bodyPr anchor="ctr" wrap="square" lIns="400000" rIns="400000" tIns="60000" bIns="60000">
            <a:noAutofit/>
          </a:bodyPr>
          <a:lstStyle/>
          <a:p>
            <a:pPr algn="l"/>
            <a:r>
              <a:rPr lang="en-US" sz="900" b="0" dirty="0">
                <a:solidFill>
                  <a:srgbClr val="CADCFC"/>
                </a:solidFill>
              </a:rPr>
              <a:t>References: Allen et al. (2010) Clin. Neurophysiol. | Chen et al. (2022) J. Neural Eng. | MNE-Python 1.10.2 | Scikit-learn 1.x | EEGNet (Lawhern et al. 2018) | Modulation Index (Tort et al. 2010)</a:t>
            </a:r>
          </a:p>
        </p:txBody>
      </p:sp>
      <p:sp>
        <p:nvSpPr>
          <p:cNvPr id="301" name="footer_contact"/>
          <p:cNvSpPr txBox="1"/>
          <p:nvPr/>
        </p:nvSpPr>
        <p:spPr>
          <a:xfrm>
            <a:off x="30000000" y="31718400"/>
            <a:ext cx="13891200" cy="1200000"/>
          </a:xfrm>
          <a:prstGeom prst="rect">
            <a:avLst/>
          </a:prstGeom>
          <a:noFill/>
        </p:spPr>
        <p:txBody>
          <a:bodyPr anchor="ctr" wrap="square" lIns="0" rIns="400000" tIns="60000" bIns="60000">
            <a:noAutofit/>
          </a:bodyPr>
          <a:lstStyle/>
          <a:p>
            <a:pPr algn="r"/>
            <a:r>
              <a:rPr lang="en-US" sz="900" b="0" dirty="0">
                <a:solidFill>
                  <a:srgbClr val="CADCFC"/>
                </a:solidFill>
              </a:rPr>
              <a:t>wanghleys@gmail.com  |  github.com/wanghley/ml-driven-eeg-biomarkers  |  Duke University Spring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2013-01-28T22:40:39Z</dcterms:created>
  <dc:creator>Daniel Viens</dc:creator>
</cp:coreProperties>
</file>