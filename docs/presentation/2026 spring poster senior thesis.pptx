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hSveCBle5MKSOjwtcyJT3iAgc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3ae57653520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ae57653520_2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quot; x 48&quot; Poster">
  <p:cSld name="36&quot; x 48&quot; Poster">
    <p:spTree>
      <p:nvGrpSpPr>
        <p:cNvPr id="6" name="Shape 6"/>
        <p:cNvGrpSpPr/>
        <p:nvPr/>
      </p:nvGrpSpPr>
      <p:grpSpPr>
        <a:xfrm>
          <a:off x="0" y="0"/>
          <a:ext cx="0" cy="0"/>
          <a:chOff x="0" y="0"/>
          <a:chExt cx="0" cy="0"/>
        </a:xfrm>
      </p:grpSpPr>
      <p:sp>
        <p:nvSpPr>
          <p:cNvPr id="7" name="Google Shape;7;p3"/>
          <p:cNvSpPr txBox="1"/>
          <p:nvPr>
            <p:ph type="title"/>
          </p:nvPr>
        </p:nvSpPr>
        <p:spPr>
          <a:xfrm>
            <a:off x="696686" y="609600"/>
            <a:ext cx="42497700" cy="3352800"/>
          </a:xfrm>
          <a:prstGeom prst="rect">
            <a:avLst/>
          </a:prstGeom>
          <a:solidFill>
            <a:srgbClr val="C4172F"/>
          </a:solidFill>
          <a:ln cap="flat" cmpd="sng" w="19050">
            <a:solidFill>
              <a:srgbClr val="C4172F"/>
            </a:solidFill>
            <a:prstDash val="solid"/>
            <a:round/>
            <a:headEnd len="sm" w="sm" type="none"/>
            <a:tailEnd len="sm" w="sm" type="none"/>
          </a:ln>
        </p:spPr>
        <p:txBody>
          <a:bodyPr anchorCtr="1" anchor="ctr" bIns="78350" lIns="156700" spcFirstLastPara="1" rIns="156700" wrap="square" tIns="78350">
            <a:noAutofit/>
          </a:bodyPr>
          <a:lstStyle>
            <a:lvl1pPr lvl="0" marR="0" rtl="0" algn="ctr">
              <a:spcBef>
                <a:spcPts val="0"/>
              </a:spcBef>
              <a:spcAft>
                <a:spcPts val="0"/>
              </a:spcAft>
              <a:buClr>
                <a:schemeClr val="lt1"/>
              </a:buClr>
              <a:buSzPts val="6200"/>
              <a:buFont typeface="Arial"/>
              <a:buNone/>
              <a:defRPr b="1" i="0" sz="6200" u="none" cap="none" strike="noStrike">
                <a:solidFill>
                  <a:schemeClr val="lt1"/>
                </a:solidFill>
                <a:latin typeface="Arial"/>
                <a:ea typeface="Arial"/>
                <a:cs typeface="Arial"/>
                <a:sym typeface="Arial"/>
              </a:defRPr>
            </a:lvl1pPr>
            <a:lvl2pPr lvl="1">
              <a:spcBef>
                <a:spcPts val="0"/>
              </a:spcBef>
              <a:spcAft>
                <a:spcPts val="0"/>
              </a:spcAft>
              <a:buSzPts val="2800"/>
              <a:buNone/>
              <a:defRPr sz="3600"/>
            </a:lvl2pPr>
            <a:lvl3pPr lvl="2">
              <a:spcBef>
                <a:spcPts val="0"/>
              </a:spcBef>
              <a:spcAft>
                <a:spcPts val="0"/>
              </a:spcAft>
              <a:buSzPts val="2800"/>
              <a:buNone/>
              <a:defRPr sz="3600"/>
            </a:lvl3pPr>
            <a:lvl4pPr lvl="3">
              <a:spcBef>
                <a:spcPts val="0"/>
              </a:spcBef>
              <a:spcAft>
                <a:spcPts val="0"/>
              </a:spcAft>
              <a:buSzPts val="2800"/>
              <a:buNone/>
              <a:defRPr sz="3600"/>
            </a:lvl4pPr>
            <a:lvl5pPr lvl="4">
              <a:spcBef>
                <a:spcPts val="0"/>
              </a:spcBef>
              <a:spcAft>
                <a:spcPts val="0"/>
              </a:spcAft>
              <a:buSzPts val="2800"/>
              <a:buNone/>
              <a:defRPr sz="3600"/>
            </a:lvl5pPr>
            <a:lvl6pPr lvl="5">
              <a:spcBef>
                <a:spcPts val="0"/>
              </a:spcBef>
              <a:spcAft>
                <a:spcPts val="0"/>
              </a:spcAft>
              <a:buSzPts val="2800"/>
              <a:buNone/>
              <a:defRPr sz="3600"/>
            </a:lvl6pPr>
            <a:lvl7pPr lvl="6">
              <a:spcBef>
                <a:spcPts val="0"/>
              </a:spcBef>
              <a:spcAft>
                <a:spcPts val="0"/>
              </a:spcAft>
              <a:buSzPts val="2800"/>
              <a:buNone/>
              <a:defRPr sz="3600"/>
            </a:lvl7pPr>
            <a:lvl8pPr lvl="7">
              <a:spcBef>
                <a:spcPts val="0"/>
              </a:spcBef>
              <a:spcAft>
                <a:spcPts val="0"/>
              </a:spcAft>
              <a:buSzPts val="2800"/>
              <a:buNone/>
              <a:defRPr sz="3600"/>
            </a:lvl8pPr>
            <a:lvl9pPr lvl="8">
              <a:spcBef>
                <a:spcPts val="0"/>
              </a:spcBef>
              <a:spcAft>
                <a:spcPts val="0"/>
              </a:spcAft>
              <a:buSzPts val="2800"/>
              <a:buNone/>
              <a:defRPr sz="3600"/>
            </a:lvl9pPr>
          </a:lstStyle>
          <a:p/>
        </p:txBody>
      </p:sp>
      <p:sp>
        <p:nvSpPr>
          <p:cNvPr id="8" name="Google Shape;8;p3"/>
          <p:cNvSpPr txBox="1"/>
          <p:nvPr>
            <p:ph idx="1" type="body"/>
          </p:nvPr>
        </p:nvSpPr>
        <p:spPr>
          <a:xfrm>
            <a:off x="696686" y="42672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9" name="Google Shape;9;p3"/>
          <p:cNvSpPr txBox="1"/>
          <p:nvPr>
            <p:ph idx="2" type="body"/>
          </p:nvPr>
        </p:nvSpPr>
        <p:spPr>
          <a:xfrm>
            <a:off x="696686" y="5638800"/>
            <a:ext cx="13585500" cy="8686800"/>
          </a:xfrm>
          <a:prstGeom prst="rect">
            <a:avLst/>
          </a:prstGeom>
          <a:noFill/>
          <a:ln>
            <a:noFill/>
          </a:ln>
        </p:spPr>
        <p:txBody>
          <a:bodyPr anchorCtr="0" anchor="t" bIns="78350" lIns="156700" spcFirstLastPara="1" rIns="156700" wrap="square" tIns="78350">
            <a:noAutofit/>
          </a:bodyPr>
          <a:lstStyle>
            <a:lvl1pPr indent="-228600" lvl="0" marL="45720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indent="-228600" lvl="1" marL="91440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0" name="Google Shape;10;p3"/>
          <p:cNvSpPr txBox="1"/>
          <p:nvPr>
            <p:ph idx="3" type="body"/>
          </p:nvPr>
        </p:nvSpPr>
        <p:spPr>
          <a:xfrm>
            <a:off x="696686" y="146304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1" name="Google Shape;11;p3"/>
          <p:cNvSpPr txBox="1"/>
          <p:nvPr>
            <p:ph idx="4" type="body"/>
          </p:nvPr>
        </p:nvSpPr>
        <p:spPr>
          <a:xfrm>
            <a:off x="696686" y="16002000"/>
            <a:ext cx="13585500" cy="7315200"/>
          </a:xfrm>
          <a:prstGeom prst="rect">
            <a:avLst/>
          </a:prstGeom>
          <a:noFill/>
          <a:ln>
            <a:noFill/>
          </a:ln>
        </p:spPr>
        <p:txBody>
          <a:bodyPr anchorCtr="0" anchor="t" bIns="78350" lIns="156700" spcFirstLastPara="1" rIns="156700" wrap="square" tIns="78350">
            <a:noAutofit/>
          </a:bodyPr>
          <a:lstStyle>
            <a:lvl1pPr indent="-228600" lvl="0" marL="4572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406400" lvl="2" marL="13716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2" name="Google Shape;12;p3"/>
          <p:cNvSpPr txBox="1"/>
          <p:nvPr>
            <p:ph idx="5" type="body"/>
          </p:nvPr>
        </p:nvSpPr>
        <p:spPr>
          <a:xfrm>
            <a:off x="696686" y="236220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3" name="Google Shape;13;p3"/>
          <p:cNvSpPr txBox="1"/>
          <p:nvPr>
            <p:ph idx="6" type="body"/>
          </p:nvPr>
        </p:nvSpPr>
        <p:spPr>
          <a:xfrm>
            <a:off x="696686" y="24993600"/>
            <a:ext cx="13585500" cy="7315200"/>
          </a:xfrm>
          <a:prstGeom prst="rect">
            <a:avLst/>
          </a:prstGeom>
          <a:noFill/>
          <a:ln>
            <a:noFill/>
          </a:ln>
        </p:spPr>
        <p:txBody>
          <a:bodyPr anchorCtr="0" anchor="t" bIns="78350" lIns="156700" spcFirstLastPara="1" rIns="156700" wrap="square" tIns="78350">
            <a:noAutofit/>
          </a:bodyPr>
          <a:lstStyle>
            <a:lvl1pPr indent="-228600" lvl="0" marL="4572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406400" lvl="2" marL="13716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4" name="Google Shape;14;p3"/>
          <p:cNvSpPr txBox="1"/>
          <p:nvPr>
            <p:ph idx="7" type="body"/>
          </p:nvPr>
        </p:nvSpPr>
        <p:spPr>
          <a:xfrm>
            <a:off x="15152916" y="42672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5" name="Google Shape;15;p3"/>
          <p:cNvSpPr txBox="1"/>
          <p:nvPr>
            <p:ph idx="8" type="body"/>
          </p:nvPr>
        </p:nvSpPr>
        <p:spPr>
          <a:xfrm>
            <a:off x="29609144" y="24993600"/>
            <a:ext cx="13585500" cy="7315200"/>
          </a:xfrm>
          <a:prstGeom prst="rect">
            <a:avLst/>
          </a:prstGeom>
          <a:noFill/>
          <a:ln>
            <a:noFill/>
          </a:ln>
        </p:spPr>
        <p:txBody>
          <a:bodyPr anchorCtr="0" anchor="t" bIns="78350" lIns="156700" spcFirstLastPara="1" rIns="156700" wrap="square" tIns="7835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406400" lvl="2" marL="13716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6" name="Google Shape;16;p3"/>
          <p:cNvSpPr txBox="1"/>
          <p:nvPr>
            <p:ph idx="9" type="body"/>
          </p:nvPr>
        </p:nvSpPr>
        <p:spPr>
          <a:xfrm>
            <a:off x="29609144" y="42672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7" name="Google Shape;17;p3"/>
          <p:cNvSpPr txBox="1"/>
          <p:nvPr>
            <p:ph idx="13" type="body"/>
          </p:nvPr>
        </p:nvSpPr>
        <p:spPr>
          <a:xfrm>
            <a:off x="29609144" y="5638800"/>
            <a:ext cx="13585500" cy="17678400"/>
          </a:xfrm>
          <a:prstGeom prst="rect">
            <a:avLst/>
          </a:prstGeom>
          <a:noFill/>
          <a:ln>
            <a:noFill/>
          </a:ln>
        </p:spPr>
        <p:txBody>
          <a:bodyPr anchorCtr="0" anchor="t" bIns="78350" lIns="156700" spcFirstLastPara="1" rIns="156700" wrap="square" tIns="7835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406400" lvl="2" marL="13716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8" name="Google Shape;18;p3"/>
          <p:cNvSpPr txBox="1"/>
          <p:nvPr>
            <p:ph idx="14" type="body"/>
          </p:nvPr>
        </p:nvSpPr>
        <p:spPr>
          <a:xfrm>
            <a:off x="29609144" y="23622000"/>
            <a:ext cx="13585500" cy="1066800"/>
          </a:xfrm>
          <a:prstGeom prst="rect">
            <a:avLst/>
          </a:prstGeom>
          <a:solidFill>
            <a:srgbClr val="C4172F"/>
          </a:solidFill>
          <a:ln cap="flat" cmpd="sng" w="19050">
            <a:solidFill>
              <a:srgbClr val="C4172F"/>
            </a:solidFill>
            <a:prstDash val="solid"/>
            <a:round/>
            <a:headEnd len="sm" w="sm" type="none"/>
            <a:tailEnd len="sm" w="sm" type="none"/>
          </a:ln>
        </p:spPr>
        <p:txBody>
          <a:bodyPr anchorCtr="0" anchor="t" bIns="78350" lIns="156700" spcFirstLastPara="1" rIns="156700" wrap="square" tIns="78350">
            <a:noAutofit/>
          </a:bodyPr>
          <a:lstStyle>
            <a:lvl1pPr indent="-228600" lvl="0" marL="457200" marR="0" rtl="0" algn="l">
              <a:spcBef>
                <a:spcPts val="840"/>
              </a:spcBef>
              <a:spcAft>
                <a:spcPts val="0"/>
              </a:spcAft>
              <a:buClr>
                <a:schemeClr val="lt1"/>
              </a:buClr>
              <a:buSzPts val="4200"/>
              <a:buFont typeface="Arial"/>
              <a:buNone/>
              <a:defRPr b="1" i="0" sz="4200" u="none" cap="none" strike="noStrike">
                <a:solidFill>
                  <a:schemeClr val="lt1"/>
                </a:solidFill>
                <a:latin typeface="Arial"/>
                <a:ea typeface="Arial"/>
                <a:cs typeface="Arial"/>
                <a:sym typeface="Arial"/>
              </a:defRPr>
            </a:lvl1pPr>
            <a:lvl2pPr indent="-901700" lvl="1" marL="914400"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indent="-800100" lvl="2" marL="1371600"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indent="-723900" lvl="3" marL="1828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indent="-723900" lvl="4" marL="22860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19" name="Google Shape;19;p3"/>
          <p:cNvSpPr txBox="1"/>
          <p:nvPr>
            <p:ph idx="15" type="body"/>
          </p:nvPr>
        </p:nvSpPr>
        <p:spPr>
          <a:xfrm>
            <a:off x="15152916" y="5638800"/>
            <a:ext cx="13585500" cy="26670000"/>
          </a:xfrm>
          <a:prstGeom prst="rect">
            <a:avLst/>
          </a:prstGeom>
          <a:noFill/>
          <a:ln>
            <a:noFill/>
          </a:ln>
        </p:spPr>
        <p:txBody>
          <a:bodyPr anchorCtr="0" anchor="t" bIns="78350" lIns="156700" spcFirstLastPara="1" rIns="156700" wrap="square" tIns="78350">
            <a:noAutofit/>
          </a:bodyPr>
          <a:lstStyle>
            <a:lvl1pPr indent="-228600" lvl="0" marL="45720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indent="-228600" lvl="1" marL="91440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indent="-406400" lvl="2" marL="13716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3pPr>
            <a:lvl4pPr indent="-406400" lvl="3" marL="18288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4pPr>
            <a:lvl5pPr indent="-406400" lvl="4" marL="22860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5pPr>
            <a:lvl6pPr indent="-723900" lvl="5" marL="27432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indent="-723900" lvl="6" marL="32004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indent="-723900" lvl="7" marL="36576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indent="-723900" lvl="8" marL="4114800"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20" name="Google Shape;20;p3"/>
          <p:cNvSpPr/>
          <p:nvPr>
            <p:ph idx="16" type="pic"/>
          </p:nvPr>
        </p:nvSpPr>
        <p:spPr>
          <a:xfrm>
            <a:off x="1219204" y="914400"/>
            <a:ext cx="3135000" cy="2743200"/>
          </a:xfrm>
          <a:prstGeom prst="rect">
            <a:avLst/>
          </a:prstGeom>
          <a:solidFill>
            <a:schemeClr val="lt1"/>
          </a:solidFill>
          <a:ln>
            <a:noFill/>
          </a:ln>
        </p:spPr>
      </p:sp>
      <p:sp>
        <p:nvSpPr>
          <p:cNvPr id="21" name="Google Shape;21;p3"/>
          <p:cNvSpPr/>
          <p:nvPr>
            <p:ph idx="17" type="pic"/>
          </p:nvPr>
        </p:nvSpPr>
        <p:spPr>
          <a:xfrm>
            <a:off x="39711090" y="914400"/>
            <a:ext cx="3135000" cy="2743200"/>
          </a:xfrm>
          <a:prstGeom prst="rect">
            <a:avLst/>
          </a:prstGeom>
          <a:solidFill>
            <a:schemeClr val="lt1"/>
          </a:solidFill>
          <a:ln>
            <a:noFill/>
          </a:ln>
        </p:spPr>
      </p:sp>
      <p:sp>
        <p:nvSpPr>
          <p:cNvPr id="22" name="Google Shape;22;p3"/>
          <p:cNvSpPr/>
          <p:nvPr>
            <p:ph idx="18" type="chart"/>
          </p:nvPr>
        </p:nvSpPr>
        <p:spPr>
          <a:xfrm>
            <a:off x="16197948" y="16154400"/>
            <a:ext cx="11495400" cy="6705600"/>
          </a:xfrm>
          <a:prstGeom prst="rect">
            <a:avLst/>
          </a:prstGeom>
          <a:noFill/>
          <a:ln>
            <a:noFill/>
          </a:ln>
        </p:spPr>
        <p:txBody>
          <a:bodyPr anchorCtr="0" anchor="t" bIns="78350" lIns="156700" spcFirstLastPara="1" rIns="156700" wrap="square" tIns="78350">
            <a:noAutofit/>
          </a:bodyPr>
          <a:lstStyle>
            <a:lvl1pPr lvl="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lvl="1"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lvl="2"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lvl="3"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lvl="4"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lvl="5"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lvl="6"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lvl="7"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lvl="8"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sp>
        <p:nvSpPr>
          <p:cNvPr id="23" name="Google Shape;23;p3"/>
          <p:cNvSpPr/>
          <p:nvPr>
            <p:ph idx="19" type="chart"/>
          </p:nvPr>
        </p:nvSpPr>
        <p:spPr>
          <a:xfrm>
            <a:off x="16197948" y="24536400"/>
            <a:ext cx="11495400" cy="6705600"/>
          </a:xfrm>
          <a:prstGeom prst="rect">
            <a:avLst/>
          </a:prstGeom>
          <a:noFill/>
          <a:ln>
            <a:noFill/>
          </a:ln>
        </p:spPr>
        <p:txBody>
          <a:bodyPr anchorCtr="0" anchor="t" bIns="78350" lIns="156700" spcFirstLastPara="1" rIns="156700" wrap="square" tIns="78350">
            <a:noAutofit/>
          </a:bodyPr>
          <a:lstStyle>
            <a:lvl1pPr lvl="0"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1pPr>
            <a:lvl2pPr lvl="1" marR="0" rtl="0" algn="l">
              <a:spcBef>
                <a:spcPts val="2120"/>
              </a:spcBef>
              <a:spcAft>
                <a:spcPts val="0"/>
              </a:spcAft>
              <a:buClr>
                <a:schemeClr val="dk1"/>
              </a:buClr>
              <a:buSzPts val="10600"/>
              <a:buFont typeface="Arial"/>
              <a:buChar char="–"/>
              <a:defRPr b="0" i="0" sz="10600" u="none" cap="none" strike="noStrike">
                <a:solidFill>
                  <a:schemeClr val="dk1"/>
                </a:solidFill>
                <a:latin typeface="Times New Roman"/>
                <a:ea typeface="Times New Roman"/>
                <a:cs typeface="Times New Roman"/>
                <a:sym typeface="Times New Roman"/>
              </a:defRPr>
            </a:lvl2pPr>
            <a:lvl3pPr lvl="2" marR="0" rtl="0" algn="l">
              <a:spcBef>
                <a:spcPts val="1800"/>
              </a:spcBef>
              <a:spcAft>
                <a:spcPts val="0"/>
              </a:spcAft>
              <a:buClr>
                <a:schemeClr val="dk1"/>
              </a:buClr>
              <a:buSzPts val="9000"/>
              <a:buFont typeface="Arial"/>
              <a:buChar char="•"/>
              <a:defRPr b="0" i="0" sz="9000" u="none" cap="none" strike="noStrike">
                <a:solidFill>
                  <a:schemeClr val="dk1"/>
                </a:solidFill>
                <a:latin typeface="Times New Roman"/>
                <a:ea typeface="Times New Roman"/>
                <a:cs typeface="Times New Roman"/>
                <a:sym typeface="Times New Roman"/>
              </a:defRPr>
            </a:lvl3pPr>
            <a:lvl4pPr lvl="3"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4pPr>
            <a:lvl5pPr lvl="4"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5pPr>
            <a:lvl6pPr lvl="5"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6pPr>
            <a:lvl7pPr lvl="6"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7pPr>
            <a:lvl8pPr lvl="7"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8pPr>
            <a:lvl9pPr lvl="8" marR="0" rtl="0" algn="l">
              <a:spcBef>
                <a:spcPts val="1560"/>
              </a:spcBef>
              <a:spcAft>
                <a:spcPts val="0"/>
              </a:spcAft>
              <a:buClr>
                <a:schemeClr val="dk1"/>
              </a:buClr>
              <a:buSzPts val="7800"/>
              <a:buFont typeface="Arial"/>
              <a:buChar char="•"/>
              <a:defRPr b="0" i="0" sz="7800" u="none" cap="none" strike="noStrike">
                <a:solidFill>
                  <a:schemeClr val="dk1"/>
                </a:solidFill>
                <a:latin typeface="Times New Roman"/>
                <a:ea typeface="Times New Roman"/>
                <a:cs typeface="Times New Roman"/>
                <a:sym typeface="Times New Roman"/>
              </a:defRPr>
            </a:lvl9pPr>
          </a:lstStyle>
          <a:p/>
        </p:txBody>
      </p:sp>
      <p:pic>
        <p:nvPicPr>
          <p:cNvPr descr="Logo.jpg" id="24" name="Google Shape;24;p3"/>
          <p:cNvPicPr preferRelativeResize="0"/>
          <p:nvPr/>
        </p:nvPicPr>
        <p:blipFill rotWithShape="1">
          <a:blip r:embed="rId2">
            <a:alphaModFix/>
          </a:blip>
          <a:srcRect b="0" l="0" r="0" t="0"/>
          <a:stretch/>
        </p:blipFill>
        <p:spPr>
          <a:xfrm>
            <a:off x="40538400" y="32416772"/>
            <a:ext cx="2743200" cy="43891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7.png"/><Relationship Id="rId11" Type="http://schemas.openxmlformats.org/officeDocument/2006/relationships/hyperlink" Target="https://doi.org/10.1109/CVPR52733.2024.00792" TargetMode="External"/><Relationship Id="rId22" Type="http://schemas.openxmlformats.org/officeDocument/2006/relationships/image" Target="../media/image5.png"/><Relationship Id="rId10" Type="http://schemas.openxmlformats.org/officeDocument/2006/relationships/hyperlink" Target="https://doi.org/10.48550/arxiv.2401.01520" TargetMode="External"/><Relationship Id="rId21" Type="http://schemas.openxmlformats.org/officeDocument/2006/relationships/image" Target="../media/image4.png"/><Relationship Id="rId13" Type="http://schemas.openxmlformats.org/officeDocument/2006/relationships/image" Target="../media/image8.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i.org/10.48550/arXiv.2006.11239" TargetMode="External"/><Relationship Id="rId4" Type="http://schemas.openxmlformats.org/officeDocument/2006/relationships/hyperlink" Target="https://doi.org/10.48550/arXiv.2006.11239" TargetMode="External"/><Relationship Id="rId9" Type="http://schemas.openxmlformats.org/officeDocument/2006/relationships/hyperlink" Target="https://doi.org/10.48550/arxiv.2010.02502" TargetMode="External"/><Relationship Id="rId15" Type="http://schemas.openxmlformats.org/officeDocument/2006/relationships/image" Target="../media/image6.png"/><Relationship Id="rId14" Type="http://schemas.openxmlformats.org/officeDocument/2006/relationships/image" Target="../media/image9.png"/><Relationship Id="rId17" Type="http://schemas.openxmlformats.org/officeDocument/2006/relationships/image" Target="../media/image12.png"/><Relationship Id="rId16" Type="http://schemas.openxmlformats.org/officeDocument/2006/relationships/image" Target="../media/image3.png"/><Relationship Id="rId5" Type="http://schemas.openxmlformats.org/officeDocument/2006/relationships/hyperlink" Target="https://github.com/lucidrains/denoising-diffusion-pytorch" TargetMode="External"/><Relationship Id="rId19" Type="http://schemas.openxmlformats.org/officeDocument/2006/relationships/image" Target="../media/image10.png"/><Relationship Id="rId6" Type="http://schemas.openxmlformats.org/officeDocument/2006/relationships/hyperlink" Target="https://github.com/lucidrains/denoising-diffusion-pytorch" TargetMode="External"/><Relationship Id="rId18" Type="http://schemas.openxmlformats.org/officeDocument/2006/relationships/image" Target="../media/image11.png"/><Relationship Id="rId7" Type="http://schemas.openxmlformats.org/officeDocument/2006/relationships/hyperlink" Target="https://github.com/wanghley/stepdrop-tiny-diffusion" TargetMode="External"/><Relationship Id="rId8" Type="http://schemas.openxmlformats.org/officeDocument/2006/relationships/hyperlink" Target="https://doi.org/10.48550/arxiv.2010.0250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g3ae57653520_2_20"/>
          <p:cNvSpPr txBox="1"/>
          <p:nvPr>
            <p:ph idx="1" type="body"/>
          </p:nvPr>
        </p:nvSpPr>
        <p:spPr>
          <a:xfrm>
            <a:off x="696675" y="4267200"/>
            <a:ext cx="13585200" cy="8271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a:t>Introduction</a:t>
            </a:r>
            <a:endParaRPr sz="4200"/>
          </a:p>
        </p:txBody>
      </p:sp>
      <p:sp>
        <p:nvSpPr>
          <p:cNvPr id="30" name="Google Shape;30;g3ae57653520_2_20"/>
          <p:cNvSpPr txBox="1"/>
          <p:nvPr>
            <p:ph idx="2" type="body"/>
          </p:nvPr>
        </p:nvSpPr>
        <p:spPr>
          <a:xfrm>
            <a:off x="696700" y="5161100"/>
            <a:ext cx="13585200" cy="4691100"/>
          </a:xfrm>
          <a:prstGeom prst="rect">
            <a:avLst/>
          </a:prstGeom>
          <a:noFill/>
          <a:ln>
            <a:noFill/>
          </a:ln>
        </p:spPr>
        <p:txBody>
          <a:bodyPr anchorCtr="0" anchor="t" bIns="78350" lIns="156700" spcFirstLastPara="1" rIns="0" wrap="square" tIns="78350">
            <a:noAutofit/>
          </a:bodyPr>
          <a:lstStyle/>
          <a:p>
            <a:pPr indent="0" lvl="0" marL="0" rtl="0" algn="just">
              <a:spcBef>
                <a:spcPts val="560"/>
              </a:spcBef>
              <a:spcAft>
                <a:spcPts val="0"/>
              </a:spcAft>
              <a:buNone/>
            </a:pPr>
            <a:r>
              <a:rPr lang="en-US" sz="3000">
                <a:latin typeface="Arial"/>
                <a:ea typeface="Arial"/>
                <a:cs typeface="Arial"/>
                <a:sym typeface="Arial"/>
              </a:rPr>
              <a:t>High inference latency is the principal barrier to the widespread deployment of powerful tiny diffusion models. While these models exhibit impressive performance in image synthesis, their sequential, iterative denoising process incurs substantial computational cost, which is prohibitive for resource-constrained edge devices and real-time applications. This work is motivated by the critical need for efficient sampling techniques that can drastically accelerate inference without a commensurate degradation in the fidelity of the generated output. Developing a solution that maintains high-quality generation of DDPM/DDIM while ensuring practicality and speed is essential for advancing the applicability of these models.</a:t>
            </a:r>
            <a:endParaRPr sz="3000">
              <a:latin typeface="Arial"/>
              <a:ea typeface="Arial"/>
              <a:cs typeface="Arial"/>
              <a:sym typeface="Arial"/>
            </a:endParaRPr>
          </a:p>
        </p:txBody>
      </p:sp>
      <p:sp>
        <p:nvSpPr>
          <p:cNvPr id="31" name="Google Shape;31;g3ae57653520_2_20"/>
          <p:cNvSpPr txBox="1"/>
          <p:nvPr>
            <p:ph idx="4" type="body"/>
          </p:nvPr>
        </p:nvSpPr>
        <p:spPr>
          <a:xfrm>
            <a:off x="876700" y="10956650"/>
            <a:ext cx="13405200" cy="2963700"/>
          </a:xfrm>
          <a:prstGeom prst="rect">
            <a:avLst/>
          </a:prstGeom>
          <a:noFill/>
          <a:ln>
            <a:noFill/>
          </a:ln>
        </p:spPr>
        <p:txBody>
          <a:bodyPr anchorCtr="0" anchor="t" bIns="78350" lIns="156700" spcFirstLastPara="1" rIns="156700" wrap="square" tIns="78350">
            <a:noAutofit/>
          </a:bodyPr>
          <a:lstStyle/>
          <a:p>
            <a:pPr indent="-419100" lvl="0" marL="457200" rtl="0" algn="just">
              <a:lnSpc>
                <a:spcPct val="115000"/>
              </a:lnSpc>
              <a:spcBef>
                <a:spcPts val="0"/>
              </a:spcBef>
              <a:spcAft>
                <a:spcPts val="0"/>
              </a:spcAft>
              <a:buSzPts val="3000"/>
              <a:buFont typeface="Arial"/>
              <a:buChar char="●"/>
            </a:pPr>
            <a:r>
              <a:rPr lang="en-US" sz="3000">
                <a:latin typeface="Arial"/>
                <a:ea typeface="Arial"/>
                <a:cs typeface="Arial"/>
                <a:sym typeface="Arial"/>
              </a:rPr>
              <a:t>Train a baseline tiny diffusion model (DDPM/DDIM).</a:t>
            </a:r>
            <a:endParaRPr sz="3000">
              <a:latin typeface="Arial"/>
              <a:ea typeface="Arial"/>
              <a:cs typeface="Arial"/>
              <a:sym typeface="Arial"/>
            </a:endParaRPr>
          </a:p>
          <a:p>
            <a:pPr indent="-419100" lvl="0" marL="457200" rtl="0" algn="just">
              <a:lnSpc>
                <a:spcPct val="115000"/>
              </a:lnSpc>
              <a:spcBef>
                <a:spcPts val="0"/>
              </a:spcBef>
              <a:spcAft>
                <a:spcPts val="0"/>
              </a:spcAft>
              <a:buSzPts val="3000"/>
              <a:buFont typeface="Arial"/>
              <a:buChar char="●"/>
            </a:pPr>
            <a:r>
              <a:rPr lang="en-US" sz="3000">
                <a:latin typeface="Arial"/>
                <a:ea typeface="Arial"/>
                <a:cs typeface="Arial"/>
                <a:sym typeface="Arial"/>
              </a:rPr>
              <a:t>Implement stochastic and adaptive step-skip schedulers.</a:t>
            </a:r>
            <a:endParaRPr sz="3000">
              <a:latin typeface="Arial"/>
              <a:ea typeface="Arial"/>
              <a:cs typeface="Arial"/>
              <a:sym typeface="Arial"/>
            </a:endParaRPr>
          </a:p>
          <a:p>
            <a:pPr indent="-419100" lvl="0" marL="457200" rtl="0" algn="just">
              <a:lnSpc>
                <a:spcPct val="115000"/>
              </a:lnSpc>
              <a:spcBef>
                <a:spcPts val="0"/>
              </a:spcBef>
              <a:spcAft>
                <a:spcPts val="0"/>
              </a:spcAft>
              <a:buSzPts val="3000"/>
              <a:buFont typeface="Arial"/>
              <a:buChar char="●"/>
            </a:pPr>
            <a:r>
              <a:rPr lang="en-US" sz="3000">
                <a:latin typeface="Arial"/>
                <a:ea typeface="Arial"/>
                <a:cs typeface="Arial"/>
                <a:sym typeface="Arial"/>
              </a:rPr>
              <a:t>Enable probabilistic omission of denoising steps.</a:t>
            </a:r>
            <a:endParaRPr sz="3000">
              <a:latin typeface="Arial"/>
              <a:ea typeface="Arial"/>
              <a:cs typeface="Arial"/>
              <a:sym typeface="Arial"/>
            </a:endParaRPr>
          </a:p>
          <a:p>
            <a:pPr indent="-419100" lvl="0" marL="457200" rtl="0" algn="just">
              <a:lnSpc>
                <a:spcPct val="115000"/>
              </a:lnSpc>
              <a:spcBef>
                <a:spcPts val="0"/>
              </a:spcBef>
              <a:spcAft>
                <a:spcPts val="0"/>
              </a:spcAft>
              <a:buSzPts val="3000"/>
              <a:buFont typeface="Arial"/>
              <a:buChar char="●"/>
            </a:pPr>
            <a:r>
              <a:rPr lang="en-US" sz="3000">
                <a:latin typeface="Arial"/>
                <a:ea typeface="Arial"/>
                <a:cs typeface="Arial"/>
                <a:sym typeface="Arial"/>
              </a:rPr>
              <a:t>Compare stochastic vs. deterministic step reduction.</a:t>
            </a:r>
            <a:endParaRPr sz="3000">
              <a:latin typeface="Arial"/>
              <a:ea typeface="Arial"/>
              <a:cs typeface="Arial"/>
              <a:sym typeface="Arial"/>
            </a:endParaRPr>
          </a:p>
          <a:p>
            <a:pPr indent="-419100" lvl="0" marL="457200" rtl="0" algn="just">
              <a:lnSpc>
                <a:spcPct val="115000"/>
              </a:lnSpc>
              <a:spcBef>
                <a:spcPts val="0"/>
              </a:spcBef>
              <a:spcAft>
                <a:spcPts val="0"/>
              </a:spcAft>
              <a:buSzPts val="3000"/>
              <a:buFont typeface="Arial"/>
              <a:buChar char="●"/>
            </a:pPr>
            <a:r>
              <a:rPr lang="en-US" sz="3000">
                <a:latin typeface="Arial"/>
                <a:ea typeface="Arial"/>
                <a:cs typeface="Arial"/>
                <a:sym typeface="Arial"/>
              </a:rPr>
              <a:t>Evaluate using standard image-quality metrics.</a:t>
            </a:r>
            <a:endParaRPr sz="3000">
              <a:latin typeface="Arial"/>
              <a:ea typeface="Arial"/>
              <a:cs typeface="Arial"/>
              <a:sym typeface="Arial"/>
            </a:endParaRPr>
          </a:p>
          <a:p>
            <a:pPr indent="-419100" lvl="0" marL="457200" rtl="0" algn="just">
              <a:lnSpc>
                <a:spcPct val="115000"/>
              </a:lnSpc>
              <a:spcBef>
                <a:spcPts val="0"/>
              </a:spcBef>
              <a:spcAft>
                <a:spcPts val="0"/>
              </a:spcAft>
              <a:buSzPts val="3000"/>
              <a:buFont typeface="Arial"/>
              <a:buChar char="●"/>
            </a:pPr>
            <a:r>
              <a:t/>
            </a:r>
            <a:endParaRPr sz="3000">
              <a:latin typeface="Arial"/>
              <a:ea typeface="Arial"/>
              <a:cs typeface="Arial"/>
              <a:sym typeface="Arial"/>
            </a:endParaRPr>
          </a:p>
        </p:txBody>
      </p:sp>
      <p:sp>
        <p:nvSpPr>
          <p:cNvPr id="32" name="Google Shape;32;g3ae57653520_2_20"/>
          <p:cNvSpPr txBox="1"/>
          <p:nvPr>
            <p:ph idx="6" type="body"/>
          </p:nvPr>
        </p:nvSpPr>
        <p:spPr>
          <a:xfrm>
            <a:off x="696700" y="14728225"/>
            <a:ext cx="13585200" cy="18021300"/>
          </a:xfrm>
          <a:prstGeom prst="rect">
            <a:avLst/>
          </a:prstGeom>
          <a:noFill/>
          <a:ln>
            <a:noFill/>
          </a:ln>
        </p:spPr>
        <p:txBody>
          <a:bodyPr anchorCtr="0" anchor="t" bIns="78350" lIns="156700" spcFirstLastPara="1" rIns="156700" wrap="square" tIns="78350">
            <a:noAutofit/>
          </a:bodyPr>
          <a:lstStyle/>
          <a:p>
            <a:pPr indent="0" lvl="0" marL="0" rtl="0" algn="l">
              <a:lnSpc>
                <a:spcPct val="100000"/>
              </a:lnSpc>
              <a:spcBef>
                <a:spcPts val="2400"/>
              </a:spcBef>
              <a:spcAft>
                <a:spcPts val="0"/>
              </a:spcAft>
              <a:buNone/>
            </a:pPr>
            <a:r>
              <a:rPr b="1" lang="en-US" sz="3000">
                <a:solidFill>
                  <a:srgbClr val="1F1F1F"/>
                </a:solidFill>
                <a:highlight>
                  <a:srgbClr val="FFFFFF"/>
                </a:highlight>
                <a:latin typeface="Arial"/>
                <a:ea typeface="Arial"/>
                <a:cs typeface="Arial"/>
                <a:sym typeface="Arial"/>
              </a:rPr>
              <a:t>Training: </a:t>
            </a:r>
            <a:endParaRPr b="1"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rPr lang="en-US" sz="3000">
                <a:solidFill>
                  <a:srgbClr val="1F1F1F"/>
                </a:solidFill>
                <a:highlight>
                  <a:srgbClr val="FFFFFF"/>
                </a:highlight>
                <a:latin typeface="Arial"/>
                <a:ea typeface="Arial"/>
                <a:cs typeface="Arial"/>
                <a:sym typeface="Arial"/>
              </a:rPr>
              <a:t>Dataset: CIFAR-10 |  Loss: MSE on noise prediction | Optimizer: AdamW</a:t>
            </a:r>
            <a:endParaRPr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rPr b="1" lang="en-US" sz="3000">
                <a:solidFill>
                  <a:srgbClr val="1F1F1F"/>
                </a:solidFill>
                <a:highlight>
                  <a:srgbClr val="FFFFFF"/>
                </a:highlight>
                <a:latin typeface="Arial"/>
                <a:ea typeface="Arial"/>
                <a:cs typeface="Arial"/>
                <a:sym typeface="Arial"/>
              </a:rPr>
              <a:t>Step-Skipping Schedulers</a:t>
            </a:r>
            <a:endParaRPr sz="3000">
              <a:solidFill>
                <a:srgbClr val="1F1F1F"/>
              </a:solidFill>
              <a:highlight>
                <a:srgbClr val="FFFFFF"/>
              </a:highlight>
              <a:latin typeface="Arial"/>
              <a:ea typeface="Arial"/>
              <a:cs typeface="Arial"/>
              <a:sym typeface="Arial"/>
            </a:endParaRPr>
          </a:p>
          <a:p>
            <a:pPr indent="-419100" lvl="0" marL="457200" rtl="0" algn="just">
              <a:lnSpc>
                <a:spcPct val="100000"/>
              </a:lnSpc>
              <a:spcBef>
                <a:spcPts val="2400"/>
              </a:spcBef>
              <a:spcAft>
                <a:spcPts val="0"/>
              </a:spcAft>
              <a:buClr>
                <a:srgbClr val="1F1F1F"/>
              </a:buClr>
              <a:buSzPts val="3000"/>
              <a:buFont typeface="Roboto"/>
              <a:buAutoNum type="arabicPeriod"/>
            </a:pPr>
            <a:r>
              <a:rPr b="1" lang="en-US" sz="3000">
                <a:solidFill>
                  <a:srgbClr val="1F1F1F"/>
                </a:solidFill>
                <a:highlight>
                  <a:srgbClr val="FFFFFF"/>
                </a:highlight>
                <a:latin typeface="Arial"/>
                <a:ea typeface="Arial"/>
                <a:cs typeface="Arial"/>
                <a:sym typeface="Arial"/>
              </a:rPr>
              <a:t>Uniform</a:t>
            </a:r>
            <a:r>
              <a:rPr lang="en-US" sz="3000">
                <a:solidFill>
                  <a:srgbClr val="1F1F1F"/>
                </a:solidFill>
                <a:highlight>
                  <a:srgbClr val="FFFFFF"/>
                </a:highlight>
                <a:latin typeface="Arial"/>
                <a:ea typeface="Arial"/>
                <a:cs typeface="Arial"/>
                <a:sym typeface="Arial"/>
              </a:rPr>
              <a:t>: skips occur evenly across all timesteps.</a:t>
            </a:r>
            <a:endParaRPr sz="3000">
              <a:solidFill>
                <a:srgbClr val="1F1F1F"/>
              </a:solidFill>
              <a:highlight>
                <a:srgbClr val="FFFFFF"/>
              </a:highlight>
              <a:latin typeface="Arial"/>
              <a:ea typeface="Arial"/>
              <a:cs typeface="Arial"/>
              <a:sym typeface="Arial"/>
            </a:endParaRPr>
          </a:p>
          <a:p>
            <a:pPr indent="-419100" lvl="0" marL="457200" rtl="0" algn="just">
              <a:lnSpc>
                <a:spcPct val="100000"/>
              </a:lnSpc>
              <a:spcBef>
                <a:spcPts val="0"/>
              </a:spcBef>
              <a:spcAft>
                <a:spcPts val="0"/>
              </a:spcAft>
              <a:buClr>
                <a:srgbClr val="1F1F1F"/>
              </a:buClr>
              <a:buSzPts val="3000"/>
              <a:buFont typeface="Roboto"/>
              <a:buAutoNum type="arabicPeriod"/>
            </a:pPr>
            <a:r>
              <a:rPr b="1" lang="en-US" sz="3000">
                <a:solidFill>
                  <a:srgbClr val="1F1F1F"/>
                </a:solidFill>
                <a:highlight>
                  <a:srgbClr val="FFFFFF"/>
                </a:highlight>
                <a:latin typeface="Arial"/>
                <a:ea typeface="Arial"/>
                <a:cs typeface="Arial"/>
                <a:sym typeface="Arial"/>
              </a:rPr>
              <a:t>Quadratic</a:t>
            </a:r>
            <a:r>
              <a:rPr lang="en-US" sz="3000">
                <a:solidFill>
                  <a:srgbClr val="1F1F1F"/>
                </a:solidFill>
                <a:highlight>
                  <a:srgbClr val="FFFFFF"/>
                </a:highlight>
                <a:latin typeface="Arial"/>
                <a:ea typeface="Arial"/>
                <a:cs typeface="Arial"/>
                <a:sym typeface="Arial"/>
              </a:rPr>
              <a:t>: </a:t>
            </a:r>
            <a:r>
              <a:rPr lang="en-US" sz="3000">
                <a:solidFill>
                  <a:srgbClr val="1F1F1F"/>
                </a:solidFill>
                <a:highlight>
                  <a:schemeClr val="lt1"/>
                </a:highlight>
                <a:latin typeface="Arial"/>
                <a:ea typeface="Arial"/>
                <a:cs typeface="Arial"/>
                <a:sym typeface="Arial"/>
              </a:rPr>
              <a:t>skips are strongly concentrated in the middle.</a:t>
            </a:r>
            <a:endParaRPr sz="3000">
              <a:solidFill>
                <a:srgbClr val="1F1F1F"/>
              </a:solidFill>
              <a:highlight>
                <a:srgbClr val="FFFFFF"/>
              </a:highlight>
              <a:latin typeface="Arial"/>
              <a:ea typeface="Arial"/>
              <a:cs typeface="Arial"/>
              <a:sym typeface="Arial"/>
            </a:endParaRPr>
          </a:p>
          <a:p>
            <a:pPr indent="-419100" lvl="0" marL="457200" rtl="0" algn="just">
              <a:lnSpc>
                <a:spcPct val="100000"/>
              </a:lnSpc>
              <a:spcBef>
                <a:spcPts val="0"/>
              </a:spcBef>
              <a:spcAft>
                <a:spcPts val="0"/>
              </a:spcAft>
              <a:buClr>
                <a:srgbClr val="1F1F1F"/>
              </a:buClr>
              <a:buSzPts val="3000"/>
              <a:buFont typeface="Roboto"/>
              <a:buAutoNum type="arabicPeriod"/>
            </a:pPr>
            <a:r>
              <a:rPr b="1" lang="en-US" sz="3000">
                <a:solidFill>
                  <a:srgbClr val="1F1F1F"/>
                </a:solidFill>
                <a:highlight>
                  <a:srgbClr val="FFFFFF"/>
                </a:highlight>
                <a:latin typeface="Arial"/>
                <a:ea typeface="Arial"/>
                <a:cs typeface="Arial"/>
                <a:sym typeface="Arial"/>
              </a:rPr>
              <a:t>Cosine</a:t>
            </a:r>
            <a:r>
              <a:rPr lang="en-US" sz="3000">
                <a:solidFill>
                  <a:srgbClr val="1F1F1F"/>
                </a:solidFill>
                <a:highlight>
                  <a:srgbClr val="FFFFFF"/>
                </a:highlight>
                <a:latin typeface="Arial"/>
                <a:ea typeface="Arial"/>
                <a:cs typeface="Arial"/>
                <a:sym typeface="Arial"/>
              </a:rPr>
              <a:t>: skips are smooth and most frequent toward the middle.</a:t>
            </a:r>
            <a:endParaRPr sz="3000">
              <a:solidFill>
                <a:srgbClr val="1F1F1F"/>
              </a:solidFill>
              <a:highlight>
                <a:srgbClr val="FFFFFF"/>
              </a:highlight>
              <a:latin typeface="Arial"/>
              <a:ea typeface="Arial"/>
              <a:cs typeface="Arial"/>
              <a:sym typeface="Arial"/>
            </a:endParaRPr>
          </a:p>
          <a:p>
            <a:pPr indent="-419100" lvl="0" marL="457200" rtl="0" algn="just">
              <a:lnSpc>
                <a:spcPct val="100000"/>
              </a:lnSpc>
              <a:spcBef>
                <a:spcPts val="0"/>
              </a:spcBef>
              <a:spcAft>
                <a:spcPts val="0"/>
              </a:spcAft>
              <a:buClr>
                <a:srgbClr val="1F1F1F"/>
              </a:buClr>
              <a:buSzPts val="3000"/>
              <a:buFont typeface="Roboto"/>
              <a:buAutoNum type="arabicPeriod"/>
            </a:pPr>
            <a:r>
              <a:rPr b="1" lang="en-US" sz="3000">
                <a:solidFill>
                  <a:srgbClr val="1F1F1F"/>
                </a:solidFill>
                <a:highlight>
                  <a:srgbClr val="FFFFFF"/>
                </a:highlight>
                <a:latin typeface="Arial"/>
                <a:ea typeface="Arial"/>
                <a:cs typeface="Arial"/>
                <a:sym typeface="Arial"/>
              </a:rPr>
              <a:t>Adaptive</a:t>
            </a:r>
            <a:r>
              <a:rPr lang="en-US" sz="3000">
                <a:solidFill>
                  <a:srgbClr val="1F1F1F"/>
                </a:solidFill>
                <a:highlight>
                  <a:srgbClr val="FFFFFF"/>
                </a:highlight>
                <a:latin typeface="Arial"/>
                <a:ea typeface="Arial"/>
                <a:cs typeface="Arial"/>
                <a:sym typeface="Arial"/>
              </a:rPr>
              <a:t>: dynamically selects steps based on predicted noise magnitude</a:t>
            </a:r>
            <a:endParaRPr sz="3000">
              <a:solidFill>
                <a:srgbClr val="1F1F1F"/>
              </a:solidFill>
              <a:highlight>
                <a:srgbClr val="FFFFFF"/>
              </a:highlight>
              <a:latin typeface="Arial"/>
              <a:ea typeface="Arial"/>
              <a:cs typeface="Arial"/>
              <a:sym typeface="Arial"/>
            </a:endParaRPr>
          </a:p>
          <a:p>
            <a:pPr indent="0" lvl="0" marL="0" rtl="0" algn="just">
              <a:spcBef>
                <a:spcPts val="2400"/>
              </a:spcBef>
              <a:spcAft>
                <a:spcPts val="0"/>
              </a:spcAft>
              <a:buNone/>
            </a:pPr>
            <a:r>
              <a:rPr b="1" lang="en-US" sz="3000">
                <a:solidFill>
                  <a:srgbClr val="1F1F1F"/>
                </a:solidFill>
                <a:highlight>
                  <a:schemeClr val="lt1"/>
                </a:highlight>
                <a:latin typeface="Arial"/>
                <a:ea typeface="Arial"/>
                <a:cs typeface="Arial"/>
                <a:sym typeface="Arial"/>
              </a:rPr>
              <a:t>Stochastic Step Dropping </a:t>
            </a:r>
            <a:r>
              <a:rPr lang="en-US">
                <a:solidFill>
                  <a:srgbClr val="1F1F1F"/>
                </a:solidFill>
                <a:highlight>
                  <a:schemeClr val="lt1"/>
                </a:highlight>
                <a:latin typeface="Arial"/>
                <a:ea typeface="Arial"/>
                <a:cs typeface="Arial"/>
                <a:sym typeface="Arial"/>
              </a:rPr>
              <a:t>(based on Wang et al., 2024)</a:t>
            </a:r>
            <a:endParaRPr>
              <a:solidFill>
                <a:srgbClr val="1F1F1F"/>
              </a:solidFill>
              <a:highlight>
                <a:schemeClr val="lt1"/>
              </a:highlight>
              <a:latin typeface="Arial"/>
              <a:ea typeface="Arial"/>
              <a:cs typeface="Arial"/>
              <a:sym typeface="Arial"/>
            </a:endParaRPr>
          </a:p>
          <a:p>
            <a:pPr indent="0" lvl="0" marL="0" rtl="0" algn="just">
              <a:spcBef>
                <a:spcPts val="2400"/>
              </a:spcBef>
              <a:spcAft>
                <a:spcPts val="0"/>
              </a:spcAft>
              <a:buNone/>
            </a:pPr>
            <a:r>
              <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10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2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just">
              <a:lnSpc>
                <a:spcPct val="20000"/>
              </a:lnSpc>
              <a:spcBef>
                <a:spcPts val="2400"/>
              </a:spcBef>
              <a:spcAft>
                <a:spcPts val="0"/>
              </a:spcAft>
              <a:buNone/>
            </a:pPr>
            <a:r>
              <a:t/>
            </a:r>
            <a:endParaRPr sz="3000">
              <a:solidFill>
                <a:srgbClr val="1F1F1F"/>
              </a:solidFill>
              <a:highlight>
                <a:srgbClr val="FFFFFF"/>
              </a:highlight>
              <a:latin typeface="Arial"/>
              <a:ea typeface="Arial"/>
              <a:cs typeface="Arial"/>
              <a:sym typeface="Arial"/>
            </a:endParaRPr>
          </a:p>
          <a:p>
            <a:pPr indent="0" lvl="0" marL="0" rtl="0" algn="ctr">
              <a:lnSpc>
                <a:spcPct val="20000"/>
              </a:lnSpc>
              <a:spcBef>
                <a:spcPts val="2400"/>
              </a:spcBef>
              <a:spcAft>
                <a:spcPts val="0"/>
              </a:spcAft>
              <a:buNone/>
            </a:pPr>
            <a:r>
              <a:t/>
            </a:r>
            <a:endParaRPr b="1" sz="2500">
              <a:solidFill>
                <a:srgbClr val="1F1F1F"/>
              </a:solidFill>
              <a:highlight>
                <a:srgbClr val="FFFFFF"/>
              </a:highlight>
              <a:latin typeface="Arial"/>
              <a:ea typeface="Arial"/>
              <a:cs typeface="Arial"/>
              <a:sym typeface="Arial"/>
            </a:endParaRPr>
          </a:p>
          <a:p>
            <a:pPr indent="0" lvl="0" marL="0" rtl="0" algn="ctr">
              <a:lnSpc>
                <a:spcPct val="20000"/>
              </a:lnSpc>
              <a:spcBef>
                <a:spcPts val="2400"/>
              </a:spcBef>
              <a:spcAft>
                <a:spcPts val="0"/>
              </a:spcAft>
              <a:buNone/>
            </a:pPr>
            <a:r>
              <a:rPr b="1" lang="en-US" sz="2500">
                <a:solidFill>
                  <a:srgbClr val="1F1F1F"/>
                </a:solidFill>
                <a:highlight>
                  <a:srgbClr val="FFFFFF"/>
                </a:highlight>
                <a:latin typeface="Arial"/>
                <a:ea typeface="Arial"/>
                <a:cs typeface="Arial"/>
                <a:sym typeface="Arial"/>
              </a:rPr>
              <a:t>Figure 1</a:t>
            </a:r>
            <a:r>
              <a:rPr lang="en-US" sz="2500">
                <a:solidFill>
                  <a:srgbClr val="1F1F1F"/>
                </a:solidFill>
                <a:highlight>
                  <a:srgbClr val="FFFFFF"/>
                </a:highlight>
                <a:latin typeface="Arial"/>
                <a:ea typeface="Arial"/>
                <a:cs typeface="Arial"/>
                <a:sym typeface="Arial"/>
              </a:rPr>
              <a:t>: Boundary preservation and stochastic mid-step skipping flow.</a:t>
            </a:r>
            <a:endParaRPr sz="2500">
              <a:solidFill>
                <a:srgbClr val="1F1F1F"/>
              </a:solidFill>
              <a:highlight>
                <a:srgbClr val="FFFFFF"/>
              </a:highlight>
              <a:latin typeface="Arial"/>
              <a:ea typeface="Arial"/>
              <a:cs typeface="Arial"/>
              <a:sym typeface="Arial"/>
            </a:endParaRPr>
          </a:p>
          <a:p>
            <a:pPr indent="0" lvl="0" marL="0" rtl="0" algn="ctr">
              <a:lnSpc>
                <a:spcPct val="20000"/>
              </a:lnSpc>
              <a:spcBef>
                <a:spcPts val="2400"/>
              </a:spcBef>
              <a:spcAft>
                <a:spcPts val="0"/>
              </a:spcAft>
              <a:buNone/>
            </a:pPr>
            <a:r>
              <a:rPr b="1" lang="en-US" sz="2500">
                <a:solidFill>
                  <a:srgbClr val="1F1F1F"/>
                </a:solidFill>
                <a:highlight>
                  <a:srgbClr val="FFFFFF"/>
                </a:highlight>
                <a:latin typeface="Arial"/>
                <a:ea typeface="Arial"/>
                <a:cs typeface="Arial"/>
                <a:sym typeface="Arial"/>
              </a:rPr>
              <a:t>Source</a:t>
            </a:r>
            <a:r>
              <a:rPr lang="en-US" sz="2500">
                <a:solidFill>
                  <a:srgbClr val="1F1F1F"/>
                </a:solidFill>
                <a:highlight>
                  <a:srgbClr val="FFFFFF"/>
                </a:highlight>
                <a:latin typeface="Arial"/>
                <a:ea typeface="Arial"/>
                <a:cs typeface="Arial"/>
                <a:sym typeface="Arial"/>
              </a:rPr>
              <a:t>: by the authors, 2025</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b="1" sz="30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t/>
            </a:r>
            <a:endParaRPr b="1" sz="200">
              <a:solidFill>
                <a:srgbClr val="1F1F1F"/>
              </a:solidFill>
              <a:highlight>
                <a:schemeClr val="lt1"/>
              </a:highlight>
              <a:latin typeface="Arial"/>
              <a:ea typeface="Arial"/>
              <a:cs typeface="Arial"/>
              <a:sym typeface="Arial"/>
            </a:endParaRPr>
          </a:p>
          <a:p>
            <a:pPr indent="0" lvl="0" marL="0" rtl="0" algn="just">
              <a:lnSpc>
                <a:spcPct val="100000"/>
              </a:lnSpc>
              <a:spcBef>
                <a:spcPts val="2400"/>
              </a:spcBef>
              <a:spcAft>
                <a:spcPts val="0"/>
              </a:spcAft>
              <a:buNone/>
            </a:pPr>
            <a:r>
              <a:rPr b="1" lang="en-US" sz="3000">
                <a:solidFill>
                  <a:srgbClr val="1F1F1F"/>
                </a:solidFill>
                <a:highlight>
                  <a:schemeClr val="lt1"/>
                </a:highlight>
                <a:latin typeface="Arial"/>
                <a:ea typeface="Arial"/>
                <a:cs typeface="Arial"/>
                <a:sym typeface="Arial"/>
              </a:rPr>
              <a:t>Evaluation </a:t>
            </a:r>
            <a:r>
              <a:rPr b="1" lang="en-US" sz="3000">
                <a:solidFill>
                  <a:srgbClr val="1F1F1F"/>
                </a:solidFill>
                <a:highlight>
                  <a:schemeClr val="lt1"/>
                </a:highlight>
                <a:latin typeface="Arial"/>
                <a:ea typeface="Arial"/>
                <a:cs typeface="Arial"/>
                <a:sym typeface="Arial"/>
              </a:rPr>
              <a:t> Metrics</a:t>
            </a:r>
            <a:endParaRPr sz="3000">
              <a:solidFill>
                <a:srgbClr val="1F1F1F"/>
              </a:solidFill>
              <a:highlight>
                <a:schemeClr val="lt1"/>
              </a:highlight>
              <a:latin typeface="Arial"/>
              <a:ea typeface="Arial"/>
              <a:cs typeface="Arial"/>
              <a:sym typeface="Arial"/>
            </a:endParaRPr>
          </a:p>
          <a:p>
            <a:pPr indent="-647700" lvl="0" marL="914400" rtl="0" algn="just">
              <a:lnSpc>
                <a:spcPct val="100000"/>
              </a:lnSpc>
              <a:spcBef>
                <a:spcPts val="2400"/>
              </a:spcBef>
              <a:spcAft>
                <a:spcPts val="0"/>
              </a:spcAft>
              <a:buClr>
                <a:srgbClr val="1F1F1F"/>
              </a:buClr>
              <a:buSzPts val="3000"/>
              <a:buFont typeface="Roboto"/>
              <a:buChar char="●"/>
            </a:pPr>
            <a:r>
              <a:rPr b="1" lang="en-US" sz="3000">
                <a:solidFill>
                  <a:srgbClr val="1F1F1F"/>
                </a:solidFill>
                <a:highlight>
                  <a:schemeClr val="lt1"/>
                </a:highlight>
                <a:latin typeface="Arial"/>
                <a:ea typeface="Arial"/>
                <a:cs typeface="Arial"/>
                <a:sym typeface="Arial"/>
              </a:rPr>
              <a:t>FID </a:t>
            </a:r>
            <a:r>
              <a:rPr lang="en-US" sz="3000">
                <a:solidFill>
                  <a:srgbClr val="1F1F1F"/>
                </a:solidFill>
                <a:highlight>
                  <a:schemeClr val="lt1"/>
                </a:highlight>
                <a:latin typeface="Arial"/>
                <a:ea typeface="Arial"/>
                <a:cs typeface="Arial"/>
                <a:sym typeface="Arial"/>
              </a:rPr>
              <a:t>(Fréchet Inception Distance): Measures the distance between feature distributions of generated and real images. </a:t>
            </a:r>
            <a:endParaRPr sz="3000">
              <a:solidFill>
                <a:srgbClr val="1F1F1F"/>
              </a:solidFill>
              <a:highlight>
                <a:schemeClr val="lt1"/>
              </a:highlight>
              <a:latin typeface="Arial"/>
              <a:ea typeface="Arial"/>
              <a:cs typeface="Arial"/>
              <a:sym typeface="Arial"/>
            </a:endParaRPr>
          </a:p>
          <a:p>
            <a:pPr indent="-647700" lvl="0" marL="914400" rtl="0" algn="just">
              <a:lnSpc>
                <a:spcPct val="100000"/>
              </a:lnSpc>
              <a:spcBef>
                <a:spcPts val="0"/>
              </a:spcBef>
              <a:spcAft>
                <a:spcPts val="0"/>
              </a:spcAft>
              <a:buClr>
                <a:srgbClr val="1F1F1F"/>
              </a:buClr>
              <a:buSzPts val="3000"/>
              <a:buFont typeface="Roboto"/>
              <a:buChar char="●"/>
            </a:pPr>
            <a:r>
              <a:rPr b="1" lang="en-US" sz="3000">
                <a:solidFill>
                  <a:srgbClr val="1F1F1F"/>
                </a:solidFill>
                <a:highlight>
                  <a:schemeClr val="lt1"/>
                </a:highlight>
                <a:latin typeface="Arial"/>
                <a:ea typeface="Arial"/>
                <a:cs typeface="Arial"/>
                <a:sym typeface="Arial"/>
              </a:rPr>
              <a:t>IS </a:t>
            </a:r>
            <a:r>
              <a:rPr lang="en-US" sz="3000">
                <a:solidFill>
                  <a:srgbClr val="1F1F1F"/>
                </a:solidFill>
                <a:highlight>
                  <a:schemeClr val="lt1"/>
                </a:highlight>
                <a:latin typeface="Arial"/>
                <a:ea typeface="Arial"/>
                <a:cs typeface="Arial"/>
                <a:sym typeface="Arial"/>
              </a:rPr>
              <a:t>(Inception Score): Measures both </a:t>
            </a:r>
            <a:r>
              <a:rPr b="1" lang="en-US" sz="3000">
                <a:solidFill>
                  <a:srgbClr val="1F1F1F"/>
                </a:solidFill>
                <a:highlight>
                  <a:schemeClr val="lt1"/>
                </a:highlight>
                <a:latin typeface="Arial"/>
                <a:ea typeface="Arial"/>
                <a:cs typeface="Arial"/>
                <a:sym typeface="Arial"/>
              </a:rPr>
              <a:t>quality</a:t>
            </a:r>
            <a:r>
              <a:rPr lang="en-US" sz="3000">
                <a:solidFill>
                  <a:srgbClr val="1F1F1F"/>
                </a:solidFill>
                <a:highlight>
                  <a:schemeClr val="lt1"/>
                </a:highlight>
                <a:latin typeface="Arial"/>
                <a:ea typeface="Arial"/>
                <a:cs typeface="Arial"/>
                <a:sym typeface="Arial"/>
              </a:rPr>
              <a:t> (recognizability) and </a:t>
            </a:r>
            <a:r>
              <a:rPr b="1" lang="en-US" sz="3000">
                <a:solidFill>
                  <a:srgbClr val="1F1F1F"/>
                </a:solidFill>
                <a:highlight>
                  <a:schemeClr val="lt1"/>
                </a:highlight>
                <a:latin typeface="Arial"/>
                <a:ea typeface="Arial"/>
                <a:cs typeface="Arial"/>
                <a:sym typeface="Arial"/>
              </a:rPr>
              <a:t>diversity</a:t>
            </a:r>
            <a:r>
              <a:rPr lang="en-US" sz="3000">
                <a:solidFill>
                  <a:srgbClr val="1F1F1F"/>
                </a:solidFill>
                <a:highlight>
                  <a:schemeClr val="lt1"/>
                </a:highlight>
                <a:latin typeface="Arial"/>
                <a:ea typeface="Arial"/>
                <a:cs typeface="Arial"/>
                <a:sym typeface="Arial"/>
              </a:rPr>
              <a:t> (content variety). </a:t>
            </a:r>
            <a:endParaRPr sz="3000">
              <a:solidFill>
                <a:srgbClr val="1F1F1F"/>
              </a:solidFill>
              <a:highlight>
                <a:srgbClr val="FFFFFF"/>
              </a:highlight>
              <a:latin typeface="Arial"/>
              <a:ea typeface="Arial"/>
              <a:cs typeface="Arial"/>
              <a:sym typeface="Arial"/>
            </a:endParaRPr>
          </a:p>
        </p:txBody>
      </p:sp>
      <p:sp>
        <p:nvSpPr>
          <p:cNvPr id="33" name="Google Shape;33;g3ae57653520_2_20"/>
          <p:cNvSpPr txBox="1"/>
          <p:nvPr>
            <p:ph idx="8" type="body"/>
          </p:nvPr>
        </p:nvSpPr>
        <p:spPr>
          <a:xfrm>
            <a:off x="29609150" y="26670000"/>
            <a:ext cx="13585200" cy="5638800"/>
          </a:xfrm>
          <a:prstGeom prst="rect">
            <a:avLst/>
          </a:prstGeom>
          <a:noFill/>
          <a:ln>
            <a:noFill/>
          </a:ln>
        </p:spPr>
        <p:txBody>
          <a:bodyPr anchorCtr="0" anchor="t" bIns="78350" lIns="156700" spcFirstLastPara="1" rIns="156700" wrap="square" tIns="78350">
            <a:noAutofit/>
          </a:bodyPr>
          <a:lstStyle/>
          <a:p>
            <a:pPr indent="0" lvl="0" marL="0" rtl="0" algn="just">
              <a:lnSpc>
                <a:spcPct val="100000"/>
              </a:lnSpc>
              <a:spcBef>
                <a:spcPts val="2400"/>
              </a:spcBef>
              <a:spcAft>
                <a:spcPts val="0"/>
              </a:spcAft>
              <a:buClr>
                <a:schemeClr val="dk1"/>
              </a:buClr>
              <a:buSzPts val="2200"/>
              <a:buNone/>
            </a:pPr>
            <a:r>
              <a:rPr b="1" lang="en-US" sz="2100">
                <a:latin typeface="Arial"/>
                <a:ea typeface="Arial"/>
                <a:cs typeface="Arial"/>
                <a:sym typeface="Arial"/>
              </a:rPr>
              <a:t>Ho, J., Jain, A., &amp; Abbeel, P.</a:t>
            </a:r>
            <a:r>
              <a:rPr lang="en-US" sz="2100">
                <a:latin typeface="Arial"/>
                <a:ea typeface="Arial"/>
                <a:cs typeface="Arial"/>
                <a:sym typeface="Arial"/>
              </a:rPr>
              <a:t> (2020). Denoising diffusion probabilistic models. </a:t>
            </a:r>
            <a:r>
              <a:rPr i="1" lang="en-US" sz="2100">
                <a:latin typeface="Arial"/>
                <a:ea typeface="Arial"/>
                <a:cs typeface="Arial"/>
                <a:sym typeface="Arial"/>
              </a:rPr>
              <a:t>arXiv</a:t>
            </a:r>
            <a:r>
              <a:rPr lang="en-US" sz="2100">
                <a:latin typeface="Arial"/>
                <a:ea typeface="Arial"/>
                <a:cs typeface="Arial"/>
                <a:sym typeface="Arial"/>
              </a:rPr>
              <a:t>.</a:t>
            </a:r>
            <a:r>
              <a:rPr lang="en-US" sz="2100">
                <a:uFill>
                  <a:noFill/>
                </a:uFill>
                <a:latin typeface="Arial"/>
                <a:ea typeface="Arial"/>
                <a:cs typeface="Arial"/>
                <a:sym typeface="Arial"/>
                <a:hlinkClick r:id="rId3"/>
              </a:rPr>
              <a:t> </a:t>
            </a:r>
            <a:r>
              <a:rPr lang="en-US" sz="2100" u="sng">
                <a:latin typeface="Arial"/>
                <a:ea typeface="Arial"/>
                <a:cs typeface="Arial"/>
                <a:sym typeface="Arial"/>
                <a:hlinkClick r:id="rId4"/>
              </a:rPr>
              <a:t>https://doi.org/10.48550/arXiv.2006.11239</a:t>
            </a:r>
            <a:endParaRPr sz="2100" u="sng">
              <a:latin typeface="Arial"/>
              <a:ea typeface="Arial"/>
              <a:cs typeface="Arial"/>
              <a:sym typeface="Arial"/>
            </a:endParaRPr>
          </a:p>
          <a:p>
            <a:pPr indent="0" lvl="0" marL="0" rtl="0" algn="just">
              <a:lnSpc>
                <a:spcPct val="100000"/>
              </a:lnSpc>
              <a:spcBef>
                <a:spcPts val="2400"/>
              </a:spcBef>
              <a:spcAft>
                <a:spcPts val="0"/>
              </a:spcAft>
              <a:buClr>
                <a:schemeClr val="dk1"/>
              </a:buClr>
              <a:buSzPts val="2200"/>
              <a:buNone/>
            </a:pPr>
            <a:r>
              <a:rPr b="1" lang="en-US" sz="2100">
                <a:latin typeface="Arial"/>
                <a:ea typeface="Arial"/>
                <a:cs typeface="Arial"/>
                <a:sym typeface="Arial"/>
              </a:rPr>
              <a:t>lucidrains.</a:t>
            </a:r>
            <a:r>
              <a:rPr lang="en-US" sz="2100">
                <a:latin typeface="Arial"/>
                <a:ea typeface="Arial"/>
                <a:cs typeface="Arial"/>
                <a:sym typeface="Arial"/>
              </a:rPr>
              <a:t> (2023). </a:t>
            </a:r>
            <a:r>
              <a:rPr i="1" lang="en-US" sz="2100">
                <a:latin typeface="Arial"/>
                <a:ea typeface="Arial"/>
                <a:cs typeface="Arial"/>
                <a:sym typeface="Arial"/>
              </a:rPr>
              <a:t>denoising-diffusion-pytorch</a:t>
            </a:r>
            <a:r>
              <a:rPr lang="en-US" sz="2100">
                <a:latin typeface="Arial"/>
                <a:ea typeface="Arial"/>
                <a:cs typeface="Arial"/>
                <a:sym typeface="Arial"/>
              </a:rPr>
              <a:t> (Version 2.2.5) [Computer software]. GitHub.</a:t>
            </a:r>
            <a:r>
              <a:rPr lang="en-US" sz="2100">
                <a:uFill>
                  <a:noFill/>
                </a:uFill>
                <a:latin typeface="Arial"/>
                <a:ea typeface="Arial"/>
                <a:cs typeface="Arial"/>
                <a:sym typeface="Arial"/>
                <a:hlinkClick r:id="rId5"/>
              </a:rPr>
              <a:t> </a:t>
            </a:r>
            <a:r>
              <a:rPr lang="en-US" sz="2100" u="sng">
                <a:latin typeface="Arial"/>
                <a:ea typeface="Arial"/>
                <a:cs typeface="Arial"/>
                <a:sym typeface="Arial"/>
                <a:hlinkClick r:id="rId6"/>
              </a:rPr>
              <a:t>https://github.com/lucidrains/denoising-diffusion-pytorch</a:t>
            </a:r>
            <a:endParaRPr sz="2100" u="sng">
              <a:latin typeface="Arial"/>
              <a:ea typeface="Arial"/>
              <a:cs typeface="Arial"/>
              <a:sym typeface="Arial"/>
            </a:endParaRPr>
          </a:p>
          <a:p>
            <a:pPr indent="0" lvl="0" marL="0" rtl="0" algn="just">
              <a:spcBef>
                <a:spcPts val="2400"/>
              </a:spcBef>
              <a:spcAft>
                <a:spcPts val="0"/>
              </a:spcAft>
              <a:buClr>
                <a:schemeClr val="dk1"/>
              </a:buClr>
              <a:buSzPts val="2200"/>
              <a:buNone/>
            </a:pPr>
            <a:r>
              <a:rPr b="1" lang="en-US" sz="2100">
                <a:latin typeface="Arial"/>
                <a:ea typeface="Arial"/>
                <a:cs typeface="Arial"/>
                <a:sym typeface="Arial"/>
              </a:rPr>
              <a:t>Martins, W.S., Vasilescu, N., &amp; Chu, L. </a:t>
            </a:r>
            <a:r>
              <a:rPr lang="en-US" sz="2100">
                <a:latin typeface="Arial"/>
                <a:ea typeface="Arial"/>
                <a:cs typeface="Arial"/>
                <a:sym typeface="Arial"/>
              </a:rPr>
              <a:t>(2025).</a:t>
            </a:r>
            <a:r>
              <a:rPr b="1" lang="en-US" sz="2100">
                <a:latin typeface="Arial"/>
                <a:ea typeface="Arial"/>
                <a:cs typeface="Arial"/>
                <a:sym typeface="Arial"/>
              </a:rPr>
              <a:t> </a:t>
            </a:r>
            <a:r>
              <a:rPr lang="en-US" sz="2100">
                <a:latin typeface="Arial"/>
                <a:ea typeface="Arial"/>
                <a:cs typeface="Arial"/>
                <a:sym typeface="Arial"/>
              </a:rPr>
              <a:t>stepdrop-tiny-diffusion [Computer software]. GitHub. </a:t>
            </a:r>
            <a:r>
              <a:rPr lang="en-US" sz="2100" u="sng">
                <a:latin typeface="Arial"/>
                <a:ea typeface="Arial"/>
                <a:cs typeface="Arial"/>
                <a:sym typeface="Arial"/>
                <a:hlinkClick r:id="rId7"/>
              </a:rPr>
              <a:t>https://github.com/wanghley/stepdrop-tiny-diffusion</a:t>
            </a:r>
            <a:endParaRPr sz="2100" u="sng">
              <a:latin typeface="Arial"/>
              <a:ea typeface="Arial"/>
              <a:cs typeface="Arial"/>
              <a:sym typeface="Arial"/>
            </a:endParaRPr>
          </a:p>
          <a:p>
            <a:pPr indent="0" lvl="0" marL="0" rtl="0" algn="just">
              <a:lnSpc>
                <a:spcPct val="100000"/>
              </a:lnSpc>
              <a:spcBef>
                <a:spcPts val="2400"/>
              </a:spcBef>
              <a:spcAft>
                <a:spcPts val="0"/>
              </a:spcAft>
              <a:buClr>
                <a:schemeClr val="dk1"/>
              </a:buClr>
              <a:buSzPts val="2200"/>
              <a:buNone/>
            </a:pPr>
            <a:r>
              <a:rPr b="1" lang="en-US" sz="2100">
                <a:latin typeface="Arial"/>
                <a:ea typeface="Arial"/>
                <a:cs typeface="Arial"/>
                <a:sym typeface="Arial"/>
              </a:rPr>
              <a:t>Song, J., Meng, C., &amp; Ermon, S.</a:t>
            </a:r>
            <a:r>
              <a:rPr lang="en-US" sz="2100">
                <a:latin typeface="Arial"/>
                <a:ea typeface="Arial"/>
                <a:cs typeface="Arial"/>
                <a:sym typeface="Arial"/>
              </a:rPr>
              <a:t> (2020). Denoising diffusion implicit models. </a:t>
            </a:r>
            <a:r>
              <a:rPr i="1" lang="en-US" sz="2100">
                <a:latin typeface="Arial"/>
                <a:ea typeface="Arial"/>
                <a:cs typeface="Arial"/>
                <a:sym typeface="Arial"/>
              </a:rPr>
              <a:t>arXiv</a:t>
            </a:r>
            <a:r>
              <a:rPr lang="en-US" sz="2100">
                <a:latin typeface="Arial"/>
                <a:ea typeface="Arial"/>
                <a:cs typeface="Arial"/>
                <a:sym typeface="Arial"/>
              </a:rPr>
              <a:t>.</a:t>
            </a:r>
            <a:r>
              <a:rPr lang="en-US" sz="2100">
                <a:uFill>
                  <a:noFill/>
                </a:uFill>
                <a:latin typeface="Arial"/>
                <a:ea typeface="Arial"/>
                <a:cs typeface="Arial"/>
                <a:sym typeface="Arial"/>
                <a:hlinkClick r:id="rId8"/>
              </a:rPr>
              <a:t> </a:t>
            </a:r>
            <a:r>
              <a:rPr lang="en-US" sz="2100" u="sng">
                <a:latin typeface="Arial"/>
                <a:ea typeface="Arial"/>
                <a:cs typeface="Arial"/>
                <a:sym typeface="Arial"/>
                <a:hlinkClick r:id="rId9"/>
              </a:rPr>
              <a:t>https://doi.org/10.48550/arxiv.2010.02502</a:t>
            </a:r>
            <a:endParaRPr sz="2100" u="sng">
              <a:latin typeface="Arial"/>
              <a:ea typeface="Arial"/>
              <a:cs typeface="Arial"/>
              <a:sym typeface="Arial"/>
            </a:endParaRPr>
          </a:p>
          <a:p>
            <a:pPr indent="0" lvl="0" marL="0" rtl="0" algn="just">
              <a:lnSpc>
                <a:spcPct val="100000"/>
              </a:lnSpc>
              <a:spcBef>
                <a:spcPts val="2400"/>
              </a:spcBef>
              <a:spcAft>
                <a:spcPts val="0"/>
              </a:spcAft>
              <a:buClr>
                <a:schemeClr val="dk1"/>
              </a:buClr>
              <a:buSzPts val="2200"/>
              <a:buNone/>
            </a:pPr>
            <a:r>
              <a:rPr b="1" lang="en-US" sz="2100">
                <a:latin typeface="Arial"/>
                <a:ea typeface="Arial"/>
                <a:cs typeface="Arial"/>
                <a:sym typeface="Arial"/>
              </a:rPr>
              <a:t>Wang, Y., &amp; Li, S.</a:t>
            </a:r>
            <a:r>
              <a:rPr lang="en-US" sz="2100">
                <a:latin typeface="Arial"/>
                <a:ea typeface="Arial"/>
                <a:cs typeface="Arial"/>
                <a:sym typeface="Arial"/>
              </a:rPr>
              <a:t> (2024). S2-DMs: Skip-step diffusion models. </a:t>
            </a:r>
            <a:r>
              <a:rPr i="1" lang="en-US" sz="2100">
                <a:latin typeface="Arial"/>
                <a:ea typeface="Arial"/>
                <a:cs typeface="Arial"/>
                <a:sym typeface="Arial"/>
              </a:rPr>
              <a:t>arXiv</a:t>
            </a:r>
            <a:r>
              <a:rPr lang="en-US" sz="2100">
                <a:latin typeface="Arial"/>
                <a:ea typeface="Arial"/>
                <a:cs typeface="Arial"/>
                <a:sym typeface="Arial"/>
              </a:rPr>
              <a:t>.</a:t>
            </a:r>
            <a:r>
              <a:rPr lang="en-US" sz="2100" u="sng">
                <a:latin typeface="Arial"/>
                <a:ea typeface="Arial"/>
                <a:cs typeface="Arial"/>
                <a:sym typeface="Arial"/>
                <a:hlinkClick r:id="rId10"/>
              </a:rPr>
              <a:t> https://doi.org/10.48550/arxiv.2401.01520</a:t>
            </a:r>
            <a:endParaRPr sz="2100">
              <a:latin typeface="Arial"/>
              <a:ea typeface="Arial"/>
              <a:cs typeface="Arial"/>
              <a:sym typeface="Arial"/>
            </a:endParaRPr>
          </a:p>
          <a:p>
            <a:pPr indent="0" lvl="0" marL="0" rtl="0" algn="just">
              <a:lnSpc>
                <a:spcPct val="100000"/>
              </a:lnSpc>
              <a:spcBef>
                <a:spcPts val="2400"/>
              </a:spcBef>
              <a:spcAft>
                <a:spcPts val="2400"/>
              </a:spcAft>
              <a:buClr>
                <a:schemeClr val="dk1"/>
              </a:buClr>
              <a:buSzPts val="2200"/>
              <a:buNone/>
            </a:pPr>
            <a:r>
              <a:rPr b="1" lang="en-US" sz="2100">
                <a:latin typeface="Arial"/>
                <a:ea typeface="Arial"/>
                <a:cs typeface="Arial"/>
                <a:sym typeface="Arial"/>
              </a:rPr>
              <a:t>Xue, S., Liu, Z., Chen, F., Zhang, S., Hu, T., &amp; Xie, E.</a:t>
            </a:r>
            <a:r>
              <a:rPr lang="en-US" sz="2100">
                <a:latin typeface="Arial"/>
                <a:ea typeface="Arial"/>
                <a:cs typeface="Arial"/>
                <a:sym typeface="Arial"/>
              </a:rPr>
              <a:t> (2024). Accelerating diffusion sampling with optimized time steps. </a:t>
            </a:r>
            <a:r>
              <a:rPr i="1" lang="en-US" sz="2100">
                <a:latin typeface="Arial"/>
                <a:ea typeface="Arial"/>
                <a:cs typeface="Arial"/>
                <a:sym typeface="Arial"/>
              </a:rPr>
              <a:t>2024 IEEE/CVF Conference on Computer Vision and Pattern Recognition (CVPR)</a:t>
            </a:r>
            <a:r>
              <a:rPr lang="en-US" sz="2100">
                <a:latin typeface="Arial"/>
                <a:ea typeface="Arial"/>
                <a:cs typeface="Arial"/>
                <a:sym typeface="Arial"/>
              </a:rPr>
              <a:t> (pp. 8254–8263). IEEE.</a:t>
            </a:r>
            <a:r>
              <a:rPr lang="en-US" sz="2100" u="sng">
                <a:latin typeface="Arial"/>
                <a:ea typeface="Arial"/>
                <a:cs typeface="Arial"/>
                <a:sym typeface="Arial"/>
                <a:hlinkClick r:id="rId11"/>
              </a:rPr>
              <a:t> https://doi.org/10.1109/CVPR52733.2024.00792</a:t>
            </a:r>
            <a:endParaRPr sz="2100">
              <a:latin typeface="Arial"/>
              <a:ea typeface="Arial"/>
              <a:cs typeface="Arial"/>
              <a:sym typeface="Arial"/>
            </a:endParaRPr>
          </a:p>
        </p:txBody>
      </p:sp>
      <p:sp>
        <p:nvSpPr>
          <p:cNvPr id="34" name="Google Shape;34;g3ae57653520_2_20"/>
          <p:cNvSpPr txBox="1"/>
          <p:nvPr>
            <p:ph idx="13" type="body"/>
          </p:nvPr>
        </p:nvSpPr>
        <p:spPr>
          <a:xfrm>
            <a:off x="29609150" y="13868250"/>
            <a:ext cx="13585200" cy="3915900"/>
          </a:xfrm>
          <a:prstGeom prst="rect">
            <a:avLst/>
          </a:prstGeom>
          <a:noFill/>
          <a:ln>
            <a:noFill/>
          </a:ln>
        </p:spPr>
        <p:txBody>
          <a:bodyPr anchorCtr="0" anchor="t" bIns="78350" lIns="156700" spcFirstLastPara="1" rIns="156700" wrap="square" tIns="78350">
            <a:noAutofit/>
          </a:bodyPr>
          <a:lstStyle/>
          <a:p>
            <a:pPr indent="-419100" lvl="0" marL="457200" rtl="0" algn="just">
              <a:spcBef>
                <a:spcPts val="0"/>
              </a:spcBef>
              <a:spcAft>
                <a:spcPts val="0"/>
              </a:spcAft>
              <a:buSzPts val="3000"/>
              <a:buChar char="•"/>
            </a:pPr>
            <a:r>
              <a:rPr b="1" lang="en-US" sz="3000">
                <a:latin typeface="Arial"/>
                <a:ea typeface="Arial"/>
                <a:cs typeface="Arial"/>
                <a:sym typeface="Arial"/>
              </a:rPr>
              <a:t>Diffusion cost stems from uniform sampling</a:t>
            </a:r>
            <a:r>
              <a:rPr lang="en-US" sz="3000">
                <a:latin typeface="Arial"/>
                <a:ea typeface="Arial"/>
                <a:cs typeface="Arial"/>
                <a:sym typeface="Arial"/>
              </a:rPr>
              <a:t>, despite uneven step importance (early = structure, late = texture, middle = low-value).</a:t>
            </a:r>
            <a:endParaRPr sz="3000">
              <a:latin typeface="Arial"/>
              <a:ea typeface="Arial"/>
              <a:cs typeface="Arial"/>
              <a:sym typeface="Arial"/>
            </a:endParaRPr>
          </a:p>
          <a:p>
            <a:pPr indent="0" lvl="0" marL="457200" rtl="0" algn="just">
              <a:spcBef>
                <a:spcPts val="0"/>
              </a:spcBef>
              <a:spcAft>
                <a:spcPts val="0"/>
              </a:spcAft>
              <a:buNone/>
            </a:pPr>
            <a:r>
              <a:t/>
            </a:r>
            <a:endParaRPr sz="3000">
              <a:latin typeface="Arial"/>
              <a:ea typeface="Arial"/>
              <a:cs typeface="Arial"/>
              <a:sym typeface="Arial"/>
            </a:endParaRPr>
          </a:p>
          <a:p>
            <a:pPr indent="-419100" lvl="0" marL="457200" rtl="0" algn="just">
              <a:spcBef>
                <a:spcPts val="0"/>
              </a:spcBef>
              <a:spcAft>
                <a:spcPts val="0"/>
              </a:spcAft>
              <a:buSzPts val="3000"/>
              <a:buChar char="•"/>
            </a:pPr>
            <a:r>
              <a:rPr b="1" lang="en-US" sz="3000">
                <a:latin typeface="Arial"/>
                <a:ea typeface="Arial"/>
                <a:cs typeface="Arial"/>
                <a:sym typeface="Arial"/>
              </a:rPr>
              <a:t>StepDrop targets high-value steps</a:t>
            </a:r>
            <a:r>
              <a:rPr lang="en-US" sz="3000">
                <a:latin typeface="Arial"/>
                <a:ea typeface="Arial"/>
                <a:cs typeface="Arial"/>
                <a:sym typeface="Arial"/>
              </a:rPr>
              <a:t>, cutting compute by 50% while improving FID (+2.5) and keeping IS stable.</a:t>
            </a:r>
            <a:endParaRPr sz="3000">
              <a:latin typeface="Arial"/>
              <a:ea typeface="Arial"/>
              <a:cs typeface="Arial"/>
              <a:sym typeface="Arial"/>
            </a:endParaRPr>
          </a:p>
          <a:p>
            <a:pPr indent="0" lvl="0" marL="457200" rtl="0" algn="just">
              <a:spcBef>
                <a:spcPts val="0"/>
              </a:spcBef>
              <a:spcAft>
                <a:spcPts val="0"/>
              </a:spcAft>
              <a:buNone/>
            </a:pPr>
            <a:r>
              <a:t/>
            </a:r>
            <a:endParaRPr sz="3000">
              <a:latin typeface="Arial"/>
              <a:ea typeface="Arial"/>
              <a:cs typeface="Arial"/>
              <a:sym typeface="Arial"/>
            </a:endParaRPr>
          </a:p>
          <a:p>
            <a:pPr indent="-419100" lvl="0" marL="457200" rtl="0" algn="just">
              <a:spcBef>
                <a:spcPts val="0"/>
              </a:spcBef>
              <a:spcAft>
                <a:spcPts val="0"/>
              </a:spcAft>
              <a:buSzPts val="3000"/>
              <a:buChar char="•"/>
            </a:pPr>
            <a:r>
              <a:rPr lang="en-US" sz="3000">
                <a:latin typeface="Arial"/>
                <a:ea typeface="Arial"/>
                <a:cs typeface="Arial"/>
                <a:sym typeface="Arial"/>
              </a:rPr>
              <a:t>Offers </a:t>
            </a:r>
            <a:r>
              <a:rPr b="1" lang="en-US" sz="3000">
                <a:latin typeface="Arial"/>
                <a:ea typeface="Arial"/>
                <a:cs typeface="Arial"/>
                <a:sym typeface="Arial"/>
              </a:rPr>
              <a:t>best fidelity per FLOP</a:t>
            </a:r>
            <a:r>
              <a:rPr lang="en-US" sz="3000">
                <a:latin typeface="Arial"/>
                <a:ea typeface="Arial"/>
                <a:cs typeface="Arial"/>
                <a:sym typeface="Arial"/>
              </a:rPr>
              <a:t> with flexible compute–memory tradeoffs; residuals show strong agreement with DDIM.</a:t>
            </a:r>
            <a:endParaRPr sz="3000">
              <a:latin typeface="Arial"/>
              <a:ea typeface="Arial"/>
              <a:cs typeface="Arial"/>
              <a:sym typeface="Arial"/>
            </a:endParaRPr>
          </a:p>
        </p:txBody>
      </p:sp>
      <p:sp>
        <p:nvSpPr>
          <p:cNvPr id="35" name="Google Shape;35;g3ae57653520_2_20"/>
          <p:cNvSpPr txBox="1"/>
          <p:nvPr>
            <p:ph idx="14" type="body"/>
          </p:nvPr>
        </p:nvSpPr>
        <p:spPr>
          <a:xfrm>
            <a:off x="29609144" y="25603200"/>
            <a:ext cx="13585200" cy="10668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sz="4200"/>
              <a:t>References</a:t>
            </a:r>
            <a:endParaRPr sz="4200"/>
          </a:p>
        </p:txBody>
      </p:sp>
      <p:pic>
        <p:nvPicPr>
          <p:cNvPr id="36" name="Google Shape;36;g3ae57653520_2_20" title="duke_wordmark_white.png"/>
          <p:cNvPicPr preferRelativeResize="0"/>
          <p:nvPr/>
        </p:nvPicPr>
        <p:blipFill rotWithShape="1">
          <a:blip r:embed="rId12">
            <a:alphaModFix/>
          </a:blip>
          <a:srcRect b="28465" l="27641" r="26334" t="32363"/>
          <a:stretch/>
        </p:blipFill>
        <p:spPr>
          <a:xfrm>
            <a:off x="1482800" y="1152125"/>
            <a:ext cx="5413345" cy="2267748"/>
          </a:xfrm>
          <a:prstGeom prst="rect">
            <a:avLst/>
          </a:prstGeom>
          <a:noFill/>
          <a:ln>
            <a:noFill/>
          </a:ln>
        </p:spPr>
      </p:pic>
      <p:pic>
        <p:nvPicPr>
          <p:cNvPr id="37" name="Google Shape;37;g3ae57653520_2_20"/>
          <p:cNvPicPr preferRelativeResize="0"/>
          <p:nvPr/>
        </p:nvPicPr>
        <p:blipFill>
          <a:blip r:embed="rId13">
            <a:alphaModFix/>
          </a:blip>
          <a:stretch>
            <a:fillRect/>
          </a:stretch>
        </p:blipFill>
        <p:spPr>
          <a:xfrm>
            <a:off x="32640055" y="753906"/>
            <a:ext cx="10554624" cy="1066800"/>
          </a:xfrm>
          <a:prstGeom prst="rect">
            <a:avLst/>
          </a:prstGeom>
          <a:noFill/>
          <a:ln>
            <a:noFill/>
          </a:ln>
        </p:spPr>
      </p:pic>
      <p:sp>
        <p:nvSpPr>
          <p:cNvPr id="38" name="Google Shape;38;g3ae57653520_2_20"/>
          <p:cNvSpPr txBox="1"/>
          <p:nvPr>
            <p:ph idx="1" type="body"/>
          </p:nvPr>
        </p:nvSpPr>
        <p:spPr>
          <a:xfrm>
            <a:off x="786700" y="9990875"/>
            <a:ext cx="13585200" cy="8271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a:t>Objectives	</a:t>
            </a:r>
            <a:endParaRPr sz="4200"/>
          </a:p>
        </p:txBody>
      </p:sp>
      <p:sp>
        <p:nvSpPr>
          <p:cNvPr id="39" name="Google Shape;39;g3ae57653520_2_20"/>
          <p:cNvSpPr txBox="1"/>
          <p:nvPr>
            <p:ph idx="1" type="body"/>
          </p:nvPr>
        </p:nvSpPr>
        <p:spPr>
          <a:xfrm>
            <a:off x="696700" y="13792200"/>
            <a:ext cx="13585200" cy="8271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a:t>Method</a:t>
            </a:r>
            <a:endParaRPr sz="4200"/>
          </a:p>
        </p:txBody>
      </p:sp>
      <p:sp>
        <p:nvSpPr>
          <p:cNvPr id="40" name="Google Shape;40;g3ae57653520_2_20"/>
          <p:cNvSpPr txBox="1"/>
          <p:nvPr>
            <p:ph idx="1" type="body"/>
          </p:nvPr>
        </p:nvSpPr>
        <p:spPr>
          <a:xfrm>
            <a:off x="15152913" y="4267200"/>
            <a:ext cx="13585200" cy="8271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a:t>Results</a:t>
            </a:r>
            <a:endParaRPr sz="4200"/>
          </a:p>
        </p:txBody>
      </p:sp>
      <p:sp>
        <p:nvSpPr>
          <p:cNvPr id="41" name="Google Shape;41;g3ae57653520_2_20"/>
          <p:cNvSpPr txBox="1"/>
          <p:nvPr>
            <p:ph idx="1" type="body"/>
          </p:nvPr>
        </p:nvSpPr>
        <p:spPr>
          <a:xfrm>
            <a:off x="29609163" y="4267200"/>
            <a:ext cx="13585200" cy="827100"/>
          </a:xfrm>
          <a:prstGeom prst="rect">
            <a:avLst/>
          </a:prstGeom>
          <a:solidFill>
            <a:srgbClr val="1A4BA9"/>
          </a:solidFill>
          <a:ln cap="flat" cmpd="sng" w="19050">
            <a:solidFill>
              <a:srgbClr val="09306B"/>
            </a:solidFill>
            <a:prstDash val="solid"/>
            <a:round/>
            <a:headEnd len="sm" w="sm" type="none"/>
            <a:tailEnd len="sm" w="sm" type="none"/>
          </a:ln>
        </p:spPr>
        <p:txBody>
          <a:bodyPr anchorCtr="0" anchor="t" bIns="78350" lIns="156700" spcFirstLastPara="1" rIns="156700" wrap="square" tIns="78350">
            <a:noAutofit/>
          </a:bodyPr>
          <a:lstStyle/>
          <a:p>
            <a:pPr indent="0" lvl="0" marL="0" rtl="0" algn="l">
              <a:spcBef>
                <a:spcPts val="0"/>
              </a:spcBef>
              <a:spcAft>
                <a:spcPts val="0"/>
              </a:spcAft>
              <a:buClr>
                <a:schemeClr val="lt1"/>
              </a:buClr>
              <a:buSzPts val="4200"/>
              <a:buNone/>
            </a:pPr>
            <a:r>
              <a:rPr lang="en-US"/>
              <a:t>Conclusions</a:t>
            </a:r>
            <a:endParaRPr sz="4200"/>
          </a:p>
        </p:txBody>
      </p:sp>
      <p:sp>
        <p:nvSpPr>
          <p:cNvPr id="42" name="Google Shape;42;g3ae57653520_2_20"/>
          <p:cNvSpPr txBox="1"/>
          <p:nvPr>
            <p:ph type="title"/>
          </p:nvPr>
        </p:nvSpPr>
        <p:spPr>
          <a:xfrm>
            <a:off x="696686" y="609600"/>
            <a:ext cx="42497700" cy="3352800"/>
          </a:xfrm>
          <a:prstGeom prst="rect">
            <a:avLst/>
          </a:prstGeom>
          <a:solidFill>
            <a:srgbClr val="1A4BA9"/>
          </a:solidFill>
          <a:ln cap="flat" cmpd="sng" w="19050">
            <a:solidFill>
              <a:srgbClr val="09306B"/>
            </a:solidFill>
            <a:prstDash val="solid"/>
            <a:round/>
            <a:headEnd len="sm" w="sm" type="none"/>
            <a:tailEnd len="sm" w="sm" type="none"/>
          </a:ln>
        </p:spPr>
        <p:txBody>
          <a:bodyPr anchorCtr="1" anchor="ctr" bIns="78350" lIns="156700" spcFirstLastPara="1" rIns="156700" wrap="square" tIns="78350">
            <a:noAutofit/>
          </a:bodyPr>
          <a:lstStyle/>
          <a:p>
            <a:pPr indent="0" lvl="0" marL="0" rtl="0" algn="ctr">
              <a:spcBef>
                <a:spcPts val="0"/>
              </a:spcBef>
              <a:spcAft>
                <a:spcPts val="0"/>
              </a:spcAft>
              <a:buClr>
                <a:schemeClr val="lt1"/>
              </a:buClr>
              <a:buSzPts val="6200"/>
              <a:buFont typeface="Arial"/>
              <a:buNone/>
            </a:pPr>
            <a:r>
              <a:t/>
            </a:r>
            <a:endParaRPr sz="7000"/>
          </a:p>
          <a:p>
            <a:pPr indent="0" lvl="0" marL="0" rtl="0" algn="ctr">
              <a:spcBef>
                <a:spcPts val="0"/>
              </a:spcBef>
              <a:spcAft>
                <a:spcPts val="0"/>
              </a:spcAft>
              <a:buClr>
                <a:schemeClr val="lt1"/>
              </a:buClr>
              <a:buSzPts val="6200"/>
              <a:buFont typeface="Arial"/>
              <a:buNone/>
            </a:pPr>
            <a:r>
              <a:rPr lang="en-US" sz="7200"/>
              <a:t>StepDrop: </a:t>
            </a:r>
            <a:r>
              <a:rPr b="0" lang="en-US" sz="7200"/>
              <a:t>Accelerating Tiny Diffusion Models with Stochastic Step Skipping</a:t>
            </a:r>
            <a:endParaRPr b="0" sz="7200"/>
          </a:p>
          <a:p>
            <a:pPr indent="0" lvl="0" marL="0" rtl="0" algn="ctr">
              <a:spcBef>
                <a:spcPts val="0"/>
              </a:spcBef>
              <a:spcAft>
                <a:spcPts val="0"/>
              </a:spcAft>
              <a:buClr>
                <a:schemeClr val="lt1"/>
              </a:buClr>
              <a:buSzPts val="6200"/>
              <a:buFont typeface="Arial"/>
              <a:buNone/>
            </a:pPr>
            <a:r>
              <a:rPr b="0" lang="en-US" sz="4600"/>
              <a:t>Wanghley Soares Martins</a:t>
            </a:r>
            <a:r>
              <a:rPr b="0" baseline="30000" lang="en-US" sz="4000"/>
              <a:t>1</a:t>
            </a:r>
            <a:r>
              <a:rPr b="0" lang="en-US" sz="4600"/>
              <a:t>, Nicolas Vasilescu</a:t>
            </a:r>
            <a:r>
              <a:rPr b="0" baseline="30000" lang="en-US" sz="4000"/>
              <a:t>1</a:t>
            </a:r>
            <a:r>
              <a:rPr b="0" lang="en-US" sz="4600"/>
              <a:t>, Logan Chu</a:t>
            </a:r>
            <a:r>
              <a:rPr b="0" baseline="30000" lang="en-US" sz="4000"/>
              <a:t>1</a:t>
            </a:r>
            <a:endParaRPr b="0" sz="4600"/>
          </a:p>
          <a:p>
            <a:pPr indent="0" lvl="0" marL="0" rtl="0" algn="ctr">
              <a:spcBef>
                <a:spcPts val="0"/>
              </a:spcBef>
              <a:spcAft>
                <a:spcPts val="0"/>
              </a:spcAft>
              <a:buClr>
                <a:schemeClr val="lt1"/>
              </a:buClr>
              <a:buSzPts val="6200"/>
              <a:buFont typeface="Arial"/>
              <a:buNone/>
            </a:pPr>
            <a:r>
              <a:rPr b="0" baseline="30000" lang="en-US" sz="4000"/>
              <a:t>1</a:t>
            </a:r>
            <a:r>
              <a:rPr b="0" lang="en-US" sz="4000"/>
              <a:t>Department of Electrical and Computer Engineering, Pratt School of Engineering</a:t>
            </a:r>
            <a:endParaRPr b="0" sz="4000"/>
          </a:p>
          <a:p>
            <a:pPr indent="0" lvl="0" marL="0" rtl="0" algn="ctr">
              <a:spcBef>
                <a:spcPts val="0"/>
              </a:spcBef>
              <a:spcAft>
                <a:spcPts val="0"/>
              </a:spcAft>
              <a:buClr>
                <a:schemeClr val="lt1"/>
              </a:buClr>
              <a:buSzPts val="6200"/>
              <a:buFont typeface="Arial"/>
              <a:buNone/>
            </a:pPr>
            <a:r>
              <a:t/>
            </a:r>
            <a:endParaRPr b="0" sz="7000"/>
          </a:p>
        </p:txBody>
      </p:sp>
      <p:pic>
        <p:nvPicPr>
          <p:cNvPr id="43" name="Google Shape;43;g3ae57653520_2_20"/>
          <p:cNvPicPr preferRelativeResize="0"/>
          <p:nvPr/>
        </p:nvPicPr>
        <p:blipFill rotWithShape="1">
          <a:blip r:embed="rId13">
            <a:alphaModFix/>
          </a:blip>
          <a:srcRect b="0" l="34810" r="0" t="0"/>
          <a:stretch/>
        </p:blipFill>
        <p:spPr>
          <a:xfrm>
            <a:off x="1592673" y="2802645"/>
            <a:ext cx="4557496" cy="706650"/>
          </a:xfrm>
          <a:prstGeom prst="rect">
            <a:avLst/>
          </a:prstGeom>
          <a:noFill/>
          <a:ln>
            <a:noFill/>
          </a:ln>
        </p:spPr>
      </p:pic>
      <p:pic>
        <p:nvPicPr>
          <p:cNvPr id="44" name="Google Shape;44;g3ae57653520_2_20" title="duke_wordmark_white.png"/>
          <p:cNvPicPr preferRelativeResize="0"/>
          <p:nvPr/>
        </p:nvPicPr>
        <p:blipFill rotWithShape="1">
          <a:blip r:embed="rId12">
            <a:alphaModFix/>
          </a:blip>
          <a:srcRect b="28465" l="27641" r="26334" t="32363"/>
          <a:stretch/>
        </p:blipFill>
        <p:spPr>
          <a:xfrm>
            <a:off x="1158123" y="785611"/>
            <a:ext cx="5413345" cy="2267748"/>
          </a:xfrm>
          <a:prstGeom prst="rect">
            <a:avLst/>
          </a:prstGeom>
          <a:noFill/>
          <a:ln>
            <a:noFill/>
          </a:ln>
        </p:spPr>
      </p:pic>
      <p:pic>
        <p:nvPicPr>
          <p:cNvPr id="45" name="Google Shape;45;g3ae57653520_2_20" title="plot_denoising_evolution.png"/>
          <p:cNvPicPr preferRelativeResize="0"/>
          <p:nvPr/>
        </p:nvPicPr>
        <p:blipFill rotWithShape="1">
          <a:blip r:embed="rId14">
            <a:alphaModFix/>
          </a:blip>
          <a:srcRect b="0" l="0" r="0" t="7484"/>
          <a:stretch/>
        </p:blipFill>
        <p:spPr>
          <a:xfrm>
            <a:off x="15152925" y="26670000"/>
            <a:ext cx="13585198" cy="5259332"/>
          </a:xfrm>
          <a:prstGeom prst="rect">
            <a:avLst/>
          </a:prstGeom>
          <a:noFill/>
          <a:ln>
            <a:noFill/>
          </a:ln>
        </p:spPr>
      </p:pic>
      <p:pic>
        <p:nvPicPr>
          <p:cNvPr id="46" name="Google Shape;46;g3ae57653520_2_20" title="plot_metric_fid.png"/>
          <p:cNvPicPr preferRelativeResize="0"/>
          <p:nvPr/>
        </p:nvPicPr>
        <p:blipFill>
          <a:blip r:embed="rId15">
            <a:alphaModFix/>
          </a:blip>
          <a:stretch>
            <a:fillRect/>
          </a:stretch>
        </p:blipFill>
        <p:spPr>
          <a:xfrm>
            <a:off x="21883625" y="5108650"/>
            <a:ext cx="6854531" cy="5722500"/>
          </a:xfrm>
          <a:prstGeom prst="rect">
            <a:avLst/>
          </a:prstGeom>
          <a:noFill/>
          <a:ln>
            <a:noFill/>
          </a:ln>
        </p:spPr>
      </p:pic>
      <p:pic>
        <p:nvPicPr>
          <p:cNvPr id="47" name="Google Shape;47;g3ae57653520_2_20" title="plot_metric_is_mean.png"/>
          <p:cNvPicPr preferRelativeResize="0"/>
          <p:nvPr/>
        </p:nvPicPr>
        <p:blipFill>
          <a:blip r:embed="rId16">
            <a:alphaModFix/>
          </a:blip>
          <a:stretch>
            <a:fillRect/>
          </a:stretch>
        </p:blipFill>
        <p:spPr>
          <a:xfrm>
            <a:off x="15152925" y="5168195"/>
            <a:ext cx="6854500" cy="5722449"/>
          </a:xfrm>
          <a:prstGeom prst="rect">
            <a:avLst/>
          </a:prstGeom>
          <a:noFill/>
          <a:ln>
            <a:noFill/>
          </a:ln>
        </p:spPr>
      </p:pic>
      <p:pic>
        <p:nvPicPr>
          <p:cNvPr id="48" name="Google Shape;48;g3ae57653520_2_20" title="comparison_grid.png"/>
          <p:cNvPicPr preferRelativeResize="0"/>
          <p:nvPr/>
        </p:nvPicPr>
        <p:blipFill>
          <a:blip r:embed="rId17">
            <a:alphaModFix/>
          </a:blip>
          <a:stretch>
            <a:fillRect/>
          </a:stretch>
        </p:blipFill>
        <p:spPr>
          <a:xfrm>
            <a:off x="36159050" y="17784088"/>
            <a:ext cx="7035298" cy="7623439"/>
          </a:xfrm>
          <a:prstGeom prst="rect">
            <a:avLst/>
          </a:prstGeom>
          <a:noFill/>
          <a:ln>
            <a:noFill/>
          </a:ln>
        </p:spPr>
      </p:pic>
      <p:pic>
        <p:nvPicPr>
          <p:cNvPr id="49" name="Google Shape;49;g3ae57653520_2_20" title="plot_residuals.png"/>
          <p:cNvPicPr preferRelativeResize="0"/>
          <p:nvPr/>
        </p:nvPicPr>
        <p:blipFill>
          <a:blip r:embed="rId18">
            <a:alphaModFix/>
          </a:blip>
          <a:stretch>
            <a:fillRect/>
          </a:stretch>
        </p:blipFill>
        <p:spPr>
          <a:xfrm>
            <a:off x="15152925" y="16376048"/>
            <a:ext cx="13585202" cy="4678849"/>
          </a:xfrm>
          <a:prstGeom prst="rect">
            <a:avLst/>
          </a:prstGeom>
          <a:noFill/>
          <a:ln>
            <a:noFill/>
          </a:ln>
        </p:spPr>
      </p:pic>
      <p:pic>
        <p:nvPicPr>
          <p:cNvPr id="50" name="Google Shape;50;g3ae57653520_2_20" title="plot_efficiency_comparison.png"/>
          <p:cNvPicPr preferRelativeResize="0"/>
          <p:nvPr/>
        </p:nvPicPr>
        <p:blipFill rotWithShape="1">
          <a:blip r:embed="rId19">
            <a:alphaModFix/>
          </a:blip>
          <a:srcRect b="0" l="0" r="0" t="6699"/>
          <a:stretch/>
        </p:blipFill>
        <p:spPr>
          <a:xfrm>
            <a:off x="29609175" y="5399100"/>
            <a:ext cx="13585198" cy="7538245"/>
          </a:xfrm>
          <a:prstGeom prst="rect">
            <a:avLst/>
          </a:prstGeom>
          <a:noFill/>
          <a:ln>
            <a:noFill/>
          </a:ln>
        </p:spPr>
      </p:pic>
      <p:sp>
        <p:nvSpPr>
          <p:cNvPr id="51" name="Google Shape;51;g3ae57653520_2_20"/>
          <p:cNvSpPr txBox="1"/>
          <p:nvPr/>
        </p:nvSpPr>
        <p:spPr>
          <a:xfrm>
            <a:off x="15152925" y="11934800"/>
            <a:ext cx="13585200" cy="4709700"/>
          </a:xfrm>
          <a:prstGeom prst="rect">
            <a:avLst/>
          </a:prstGeom>
          <a:noFill/>
          <a:ln>
            <a:noFill/>
          </a:ln>
        </p:spPr>
        <p:txBody>
          <a:bodyPr anchorCtr="0" anchor="t" bIns="91425" lIns="91425" spcFirstLastPara="1" rIns="91425" wrap="square" tIns="91425">
            <a:noAutofit/>
          </a:bodyPr>
          <a:lstStyle/>
          <a:p>
            <a:pPr indent="-419100" lvl="0" marL="457200" rtl="0" algn="just">
              <a:spcBef>
                <a:spcPts val="0"/>
              </a:spcBef>
              <a:spcAft>
                <a:spcPts val="0"/>
              </a:spcAft>
              <a:buSzPts val="3000"/>
              <a:buChar char="●"/>
            </a:pPr>
            <a:r>
              <a:rPr b="1" lang="en-US" sz="3000"/>
              <a:t>Quality under compression:</a:t>
            </a:r>
            <a:r>
              <a:rPr lang="en-US" sz="3000"/>
              <a:t> StepDrop consistently outperforms uniform skipping at the same NFE.</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b="1" lang="en-US" sz="3000"/>
              <a:t>50 NFE</a:t>
            </a:r>
            <a:r>
              <a:rPr lang="en-US" sz="3000"/>
              <a:t>: Achieves FID 76.05, improving over DDIM’s 77.20 with identical compute.</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b="1" lang="en-US" sz="3000"/>
              <a:t>25 NFE</a:t>
            </a:r>
            <a:r>
              <a:rPr lang="en-US" sz="3000"/>
              <a:t>: Matches DDIM-50 quality while doubling throughput.</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b="1" lang="en-US" sz="3000"/>
              <a:t>Compute efficiency</a:t>
            </a:r>
            <a:r>
              <a:rPr lang="en-US" sz="3000"/>
              <a:t>: Skipping UNet calls reduces cost from 59 → 29.5 GFLOPs, yielding proportional energy savings for edge deployment.</a:t>
            </a:r>
            <a:endParaRPr sz="3000"/>
          </a:p>
        </p:txBody>
      </p:sp>
      <p:sp>
        <p:nvSpPr>
          <p:cNvPr id="52" name="Google Shape;52;g3ae57653520_2_20"/>
          <p:cNvSpPr txBox="1"/>
          <p:nvPr/>
        </p:nvSpPr>
        <p:spPr>
          <a:xfrm>
            <a:off x="15152925" y="22022976"/>
            <a:ext cx="13585200" cy="4647000"/>
          </a:xfrm>
          <a:prstGeom prst="rect">
            <a:avLst/>
          </a:prstGeom>
          <a:noFill/>
          <a:ln>
            <a:noFill/>
          </a:ln>
        </p:spPr>
        <p:txBody>
          <a:bodyPr anchorCtr="0" anchor="t" bIns="91425" lIns="91425" spcFirstLastPara="1" rIns="91425" wrap="square" tIns="91425">
            <a:noAutofit/>
          </a:bodyPr>
          <a:lstStyle/>
          <a:p>
            <a:pPr indent="-419100" lvl="0" marL="457200" rtl="0" algn="just">
              <a:spcBef>
                <a:spcPts val="0"/>
              </a:spcBef>
              <a:spcAft>
                <a:spcPts val="0"/>
              </a:spcAft>
              <a:buSzPts val="3000"/>
              <a:buChar char="●"/>
            </a:pPr>
            <a:r>
              <a:rPr b="1" lang="en-US" sz="3000"/>
              <a:t>Diffusion steps vary in importance</a:t>
            </a:r>
            <a:r>
              <a:rPr lang="en-US" sz="3000"/>
              <a:t>, with clear temporal structure in their contribution to image quality.</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b="1" lang="en-US" sz="3000"/>
              <a:t>Importance-based StepDrop improves FID by 2.5</a:t>
            </a:r>
            <a:r>
              <a:rPr lang="en-US" sz="3000"/>
              <a:t>, showing early and late steps matter most, while mid-trajectory steps add little.</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lang="en-US" sz="3000"/>
              <a:t>The model is </a:t>
            </a:r>
            <a:r>
              <a:rPr b="1" lang="en-US" sz="3000"/>
              <a:t>robust to skipping during the mid “drift” phase</a:t>
            </a:r>
            <a:r>
              <a:rPr lang="en-US" sz="3000"/>
              <a:t>, where updates have minimal perceptual impact.</a:t>
            </a:r>
            <a:endParaRPr sz="3000"/>
          </a:p>
          <a:p>
            <a:pPr indent="0" lvl="0" marL="457200" rtl="0" algn="just">
              <a:spcBef>
                <a:spcPts val="0"/>
              </a:spcBef>
              <a:spcAft>
                <a:spcPts val="0"/>
              </a:spcAft>
              <a:buNone/>
            </a:pPr>
            <a:r>
              <a:t/>
            </a:r>
            <a:endParaRPr sz="1800"/>
          </a:p>
          <a:p>
            <a:pPr indent="-419100" lvl="0" marL="457200" rtl="0" algn="just">
              <a:spcBef>
                <a:spcPts val="0"/>
              </a:spcBef>
              <a:spcAft>
                <a:spcPts val="0"/>
              </a:spcAft>
              <a:buSzPts val="3000"/>
              <a:buChar char="●"/>
            </a:pPr>
            <a:r>
              <a:rPr lang="en-US" sz="3000"/>
              <a:t>Focusing </a:t>
            </a:r>
            <a:r>
              <a:rPr b="1" lang="en-US" sz="3000"/>
              <a:t>computation on high-value steps</a:t>
            </a:r>
            <a:r>
              <a:rPr lang="en-US" sz="3000"/>
              <a:t> yields better image quality per compute and outperforms rigid step schedules.</a:t>
            </a:r>
            <a:endParaRPr sz="3000"/>
          </a:p>
        </p:txBody>
      </p:sp>
      <p:pic>
        <p:nvPicPr>
          <p:cNvPr id="53" name="Google Shape;53;g3ae57653520_2_20"/>
          <p:cNvPicPr preferRelativeResize="0"/>
          <p:nvPr/>
        </p:nvPicPr>
        <p:blipFill rotWithShape="1">
          <a:blip r:embed="rId20">
            <a:alphaModFix/>
          </a:blip>
          <a:srcRect b="22164" l="0" r="0" t="3755"/>
          <a:stretch/>
        </p:blipFill>
        <p:spPr>
          <a:xfrm>
            <a:off x="696700" y="19913525"/>
            <a:ext cx="13585201" cy="5493995"/>
          </a:xfrm>
          <a:prstGeom prst="rect">
            <a:avLst/>
          </a:prstGeom>
          <a:noFill/>
          <a:ln>
            <a:noFill/>
          </a:ln>
        </p:spPr>
      </p:pic>
      <p:sp>
        <p:nvSpPr>
          <p:cNvPr id="54" name="Google Shape;54;g3ae57653520_2_20"/>
          <p:cNvSpPr txBox="1"/>
          <p:nvPr>
            <p:ph idx="6" type="body"/>
          </p:nvPr>
        </p:nvSpPr>
        <p:spPr>
          <a:xfrm>
            <a:off x="7282662" y="26670000"/>
            <a:ext cx="7035300" cy="3159600"/>
          </a:xfrm>
          <a:prstGeom prst="rect">
            <a:avLst/>
          </a:prstGeom>
          <a:noFill/>
          <a:ln>
            <a:noFill/>
          </a:ln>
        </p:spPr>
        <p:txBody>
          <a:bodyPr anchorCtr="0" anchor="t" bIns="78350" lIns="156700" spcFirstLastPara="1" rIns="156700" wrap="square" tIns="78350">
            <a:noAutofit/>
          </a:bodyPr>
          <a:lstStyle/>
          <a:p>
            <a:pPr indent="0" lvl="0" marL="0" rtl="0" algn="just">
              <a:spcBef>
                <a:spcPts val="2400"/>
              </a:spcBef>
              <a:spcAft>
                <a:spcPts val="2400"/>
              </a:spcAft>
              <a:buClr>
                <a:schemeClr val="dk1"/>
              </a:buClr>
              <a:buSzPts val="1100"/>
              <a:buFont typeface="Arial"/>
              <a:buNone/>
            </a:pPr>
            <a:r>
              <a:rPr b="1" lang="en-US" sz="3000">
                <a:solidFill>
                  <a:srgbClr val="1F1F1F"/>
                </a:solidFill>
                <a:highlight>
                  <a:schemeClr val="lt1"/>
                </a:highlight>
                <a:latin typeface="Arial"/>
                <a:ea typeface="Arial"/>
                <a:cs typeface="Arial"/>
                <a:sym typeface="Arial"/>
              </a:rPr>
              <a:t>DDIM</a:t>
            </a:r>
            <a:r>
              <a:rPr lang="en-US" sz="3000">
                <a:solidFill>
                  <a:srgbClr val="1F1F1F"/>
                </a:solidFill>
                <a:highlight>
                  <a:schemeClr val="lt1"/>
                </a:highlight>
                <a:latin typeface="Arial"/>
                <a:ea typeface="Arial"/>
                <a:cs typeface="Arial"/>
                <a:sym typeface="Arial"/>
              </a:rPr>
              <a:t> (Song et al., 2020): Deterministic, Non-Markovian sampler</a:t>
            </a:r>
            <a:endParaRPr sz="3000">
              <a:solidFill>
                <a:srgbClr val="1F1F1F"/>
              </a:solidFill>
              <a:highlight>
                <a:srgbClr val="FFFFFF"/>
              </a:highlight>
              <a:latin typeface="Arial"/>
              <a:ea typeface="Arial"/>
              <a:cs typeface="Arial"/>
              <a:sym typeface="Arial"/>
            </a:endParaRPr>
          </a:p>
        </p:txBody>
      </p:sp>
      <p:sp>
        <p:nvSpPr>
          <p:cNvPr id="55" name="Google Shape;55;g3ae57653520_2_20"/>
          <p:cNvSpPr txBox="1"/>
          <p:nvPr>
            <p:ph idx="6" type="body"/>
          </p:nvPr>
        </p:nvSpPr>
        <p:spPr>
          <a:xfrm>
            <a:off x="876700" y="26532800"/>
            <a:ext cx="5571000" cy="3159600"/>
          </a:xfrm>
          <a:prstGeom prst="rect">
            <a:avLst/>
          </a:prstGeom>
          <a:noFill/>
          <a:ln>
            <a:noFill/>
          </a:ln>
        </p:spPr>
        <p:txBody>
          <a:bodyPr anchorCtr="0" anchor="t" bIns="78350" lIns="156700" spcFirstLastPara="1" rIns="156700" wrap="square" tIns="78350">
            <a:noAutofit/>
          </a:bodyPr>
          <a:lstStyle/>
          <a:p>
            <a:pPr indent="0" lvl="0" marL="0" rtl="0" algn="just">
              <a:spcBef>
                <a:spcPts val="2400"/>
              </a:spcBef>
              <a:spcAft>
                <a:spcPts val="2400"/>
              </a:spcAft>
              <a:buNone/>
            </a:pPr>
            <a:r>
              <a:rPr lang="en-US" sz="3000">
                <a:solidFill>
                  <a:srgbClr val="1F1F1F"/>
                </a:solidFill>
                <a:highlight>
                  <a:srgbClr val="FFFFFF"/>
                </a:highlight>
                <a:latin typeface="Arial"/>
                <a:ea typeface="Arial"/>
                <a:cs typeface="Arial"/>
                <a:sym typeface="Arial"/>
              </a:rPr>
              <a:t> </a:t>
            </a:r>
            <a:r>
              <a:rPr b="1" lang="en-US" sz="3000">
                <a:solidFill>
                  <a:srgbClr val="1F1F1F"/>
                </a:solidFill>
                <a:highlight>
                  <a:srgbClr val="FFFFFF"/>
                </a:highlight>
                <a:latin typeface="Arial"/>
                <a:ea typeface="Arial"/>
                <a:cs typeface="Arial"/>
                <a:sym typeface="Arial"/>
              </a:rPr>
              <a:t>DDPM</a:t>
            </a:r>
            <a:r>
              <a:rPr lang="en-US" sz="3000">
                <a:solidFill>
                  <a:srgbClr val="1F1F1F"/>
                </a:solidFill>
                <a:highlight>
                  <a:srgbClr val="FFFFFF"/>
                </a:highlight>
                <a:latin typeface="Arial"/>
                <a:ea typeface="Arial"/>
                <a:cs typeface="Arial"/>
                <a:sym typeface="Arial"/>
              </a:rPr>
              <a:t> (Ho et al., 2020):  Stochastic, Markovian sampler</a:t>
            </a:r>
            <a:endParaRPr sz="3000">
              <a:solidFill>
                <a:srgbClr val="1F1F1F"/>
              </a:solidFill>
              <a:highlight>
                <a:srgbClr val="FFFFFF"/>
              </a:highlight>
              <a:latin typeface="Arial"/>
              <a:ea typeface="Arial"/>
              <a:cs typeface="Arial"/>
              <a:sym typeface="Arial"/>
            </a:endParaRPr>
          </a:p>
        </p:txBody>
      </p:sp>
      <p:pic>
        <p:nvPicPr>
          <p:cNvPr id="56" name="Google Shape;56;g3ae57653520_2_20"/>
          <p:cNvPicPr preferRelativeResize="0"/>
          <p:nvPr/>
        </p:nvPicPr>
        <p:blipFill rotWithShape="1">
          <a:blip r:embed="rId21">
            <a:alphaModFix/>
          </a:blip>
          <a:srcRect b="0" l="0" r="0" t="13562"/>
          <a:stretch/>
        </p:blipFill>
        <p:spPr>
          <a:xfrm>
            <a:off x="596475" y="28351125"/>
            <a:ext cx="6549900" cy="901311"/>
          </a:xfrm>
          <a:prstGeom prst="rect">
            <a:avLst/>
          </a:prstGeom>
          <a:noFill/>
          <a:ln>
            <a:noFill/>
          </a:ln>
        </p:spPr>
      </p:pic>
      <p:pic>
        <p:nvPicPr>
          <p:cNvPr id="57" name="Google Shape;57;g3ae57653520_2_20"/>
          <p:cNvPicPr preferRelativeResize="0"/>
          <p:nvPr/>
        </p:nvPicPr>
        <p:blipFill>
          <a:blip r:embed="rId22">
            <a:alphaModFix/>
          </a:blip>
          <a:stretch>
            <a:fillRect/>
          </a:stretch>
        </p:blipFill>
        <p:spPr>
          <a:xfrm>
            <a:off x="7968375" y="28458400"/>
            <a:ext cx="5413350" cy="686764"/>
          </a:xfrm>
          <a:prstGeom prst="rect">
            <a:avLst/>
          </a:prstGeom>
          <a:noFill/>
          <a:ln>
            <a:noFill/>
          </a:ln>
        </p:spPr>
      </p:pic>
      <p:sp>
        <p:nvSpPr>
          <p:cNvPr id="58" name="Google Shape;58;g3ae57653520_2_20"/>
          <p:cNvSpPr txBox="1"/>
          <p:nvPr/>
        </p:nvSpPr>
        <p:spPr>
          <a:xfrm>
            <a:off x="17492775" y="10964513"/>
            <a:ext cx="9543600" cy="646500"/>
          </a:xfrm>
          <a:prstGeom prst="rect">
            <a:avLst/>
          </a:prstGeom>
          <a:noFill/>
          <a:ln>
            <a:noFill/>
          </a:ln>
        </p:spPr>
        <p:txBody>
          <a:bodyPr anchorCtr="0" anchor="t" bIns="91425" lIns="91425" spcFirstLastPara="1" rIns="91425" wrap="square" tIns="91425">
            <a:spAutoFit/>
          </a:bodyPr>
          <a:lstStyle/>
          <a:p>
            <a:pPr indent="0" lvl="0" marL="0" rtl="0" algn="ctr">
              <a:lnSpc>
                <a:spcPct val="20000"/>
              </a:lnSpc>
              <a:spcBef>
                <a:spcPts val="2400"/>
              </a:spcBef>
              <a:spcAft>
                <a:spcPts val="0"/>
              </a:spcAft>
              <a:buNone/>
            </a:pPr>
            <a:r>
              <a:rPr b="1" lang="en-US" sz="2500">
                <a:solidFill>
                  <a:srgbClr val="1F1F1F"/>
                </a:solidFill>
                <a:highlight>
                  <a:schemeClr val="lt1"/>
                </a:highlight>
              </a:rPr>
              <a:t>Figure 2</a:t>
            </a:r>
            <a:r>
              <a:rPr lang="en-US" sz="2500">
                <a:solidFill>
                  <a:srgbClr val="1F1F1F"/>
                </a:solidFill>
                <a:highlight>
                  <a:schemeClr val="lt1"/>
                </a:highlight>
              </a:rPr>
              <a:t>: </a:t>
            </a:r>
            <a:r>
              <a:rPr lang="en-US" sz="2500">
                <a:solidFill>
                  <a:srgbClr val="1F1F1F"/>
                </a:solidFill>
                <a:highlight>
                  <a:schemeClr val="lt1"/>
                </a:highlight>
              </a:rPr>
              <a:t>Image Quality Metrics Across Sampling Methods</a:t>
            </a:r>
            <a:r>
              <a:rPr lang="en-US" sz="2500">
                <a:solidFill>
                  <a:srgbClr val="1F1F1F"/>
                </a:solidFill>
                <a:highlight>
                  <a:schemeClr val="lt1"/>
                </a:highlight>
              </a:rPr>
              <a:t>flow.</a:t>
            </a:r>
            <a:endParaRPr sz="2500">
              <a:solidFill>
                <a:srgbClr val="1F1F1F"/>
              </a:solidFill>
              <a:highlight>
                <a:schemeClr val="lt1"/>
              </a:highlight>
            </a:endParaRPr>
          </a:p>
          <a:p>
            <a:pPr indent="0" lvl="0" marL="0" rtl="0" algn="ctr">
              <a:lnSpc>
                <a:spcPct val="20000"/>
              </a:lnSpc>
              <a:spcBef>
                <a:spcPts val="2400"/>
              </a:spcBef>
              <a:spcAft>
                <a:spcPts val="2400"/>
              </a:spcAft>
              <a:buNone/>
            </a:pPr>
            <a:r>
              <a:rPr b="1" lang="en-US" sz="2500">
                <a:solidFill>
                  <a:srgbClr val="1F1F1F"/>
                </a:solidFill>
                <a:highlight>
                  <a:schemeClr val="lt1"/>
                </a:highlight>
              </a:rPr>
              <a:t>Source</a:t>
            </a:r>
            <a:r>
              <a:rPr lang="en-US" sz="2500">
                <a:solidFill>
                  <a:srgbClr val="1F1F1F"/>
                </a:solidFill>
                <a:highlight>
                  <a:schemeClr val="lt1"/>
                </a:highlight>
              </a:rPr>
              <a:t>: by the authors, 2025</a:t>
            </a:r>
            <a:endParaRPr/>
          </a:p>
        </p:txBody>
      </p:sp>
      <p:sp>
        <p:nvSpPr>
          <p:cNvPr id="59" name="Google Shape;59;g3ae57653520_2_20"/>
          <p:cNvSpPr txBox="1"/>
          <p:nvPr/>
        </p:nvSpPr>
        <p:spPr>
          <a:xfrm>
            <a:off x="17492775" y="21079038"/>
            <a:ext cx="9543600" cy="646500"/>
          </a:xfrm>
          <a:prstGeom prst="rect">
            <a:avLst/>
          </a:prstGeom>
          <a:noFill/>
          <a:ln>
            <a:noFill/>
          </a:ln>
        </p:spPr>
        <p:txBody>
          <a:bodyPr anchorCtr="0" anchor="t" bIns="91425" lIns="91425" spcFirstLastPara="1" rIns="91425" wrap="square" tIns="91425">
            <a:spAutoFit/>
          </a:bodyPr>
          <a:lstStyle/>
          <a:p>
            <a:pPr indent="0" lvl="0" marL="0" rtl="0" algn="ctr">
              <a:lnSpc>
                <a:spcPct val="20000"/>
              </a:lnSpc>
              <a:spcBef>
                <a:spcPts val="2400"/>
              </a:spcBef>
              <a:spcAft>
                <a:spcPts val="0"/>
              </a:spcAft>
              <a:buNone/>
            </a:pPr>
            <a:r>
              <a:rPr b="1" lang="en-US" sz="2500">
                <a:solidFill>
                  <a:srgbClr val="1F1F1F"/>
                </a:solidFill>
                <a:highlight>
                  <a:schemeClr val="lt1"/>
                </a:highlight>
              </a:rPr>
              <a:t>Figure 3</a:t>
            </a:r>
            <a:r>
              <a:rPr lang="en-US" sz="2500">
                <a:solidFill>
                  <a:srgbClr val="1F1F1F"/>
                </a:solidFill>
                <a:highlight>
                  <a:schemeClr val="lt1"/>
                </a:highlight>
              </a:rPr>
              <a:t>: </a:t>
            </a:r>
            <a:r>
              <a:rPr lang="en-US" sz="2500">
                <a:solidFill>
                  <a:srgbClr val="1F1F1F"/>
                </a:solidFill>
                <a:highlight>
                  <a:schemeClr val="lt1"/>
                </a:highlight>
              </a:rPr>
              <a:t>Local fidelity comparison between DDIM and StepDrop.</a:t>
            </a:r>
            <a:endParaRPr sz="2500">
              <a:solidFill>
                <a:srgbClr val="1F1F1F"/>
              </a:solidFill>
              <a:highlight>
                <a:schemeClr val="lt1"/>
              </a:highlight>
            </a:endParaRPr>
          </a:p>
          <a:p>
            <a:pPr indent="0" lvl="0" marL="0" rtl="0" algn="ctr">
              <a:lnSpc>
                <a:spcPct val="20000"/>
              </a:lnSpc>
              <a:spcBef>
                <a:spcPts val="2400"/>
              </a:spcBef>
              <a:spcAft>
                <a:spcPts val="2400"/>
              </a:spcAft>
              <a:buNone/>
            </a:pPr>
            <a:r>
              <a:rPr b="1" lang="en-US" sz="2500">
                <a:solidFill>
                  <a:srgbClr val="1F1F1F"/>
                </a:solidFill>
                <a:highlight>
                  <a:schemeClr val="lt1"/>
                </a:highlight>
              </a:rPr>
              <a:t>Source</a:t>
            </a:r>
            <a:r>
              <a:rPr lang="en-US" sz="2500">
                <a:solidFill>
                  <a:srgbClr val="1F1F1F"/>
                </a:solidFill>
                <a:highlight>
                  <a:schemeClr val="lt1"/>
                </a:highlight>
              </a:rPr>
              <a:t>: by the authors, 2025</a:t>
            </a:r>
            <a:endParaRPr/>
          </a:p>
        </p:txBody>
      </p:sp>
      <p:sp>
        <p:nvSpPr>
          <p:cNvPr id="60" name="Google Shape;60;g3ae57653520_2_20"/>
          <p:cNvSpPr txBox="1"/>
          <p:nvPr/>
        </p:nvSpPr>
        <p:spPr>
          <a:xfrm>
            <a:off x="16379600" y="32048400"/>
            <a:ext cx="11667900" cy="646500"/>
          </a:xfrm>
          <a:prstGeom prst="rect">
            <a:avLst/>
          </a:prstGeom>
          <a:noFill/>
          <a:ln>
            <a:noFill/>
          </a:ln>
        </p:spPr>
        <p:txBody>
          <a:bodyPr anchorCtr="0" anchor="t" bIns="91425" lIns="91425" spcFirstLastPara="1" rIns="91425" wrap="square" tIns="91425">
            <a:spAutoFit/>
          </a:bodyPr>
          <a:lstStyle/>
          <a:p>
            <a:pPr indent="0" lvl="0" marL="0" rtl="0" algn="ctr">
              <a:lnSpc>
                <a:spcPct val="20000"/>
              </a:lnSpc>
              <a:spcBef>
                <a:spcPts val="2400"/>
              </a:spcBef>
              <a:spcAft>
                <a:spcPts val="0"/>
              </a:spcAft>
              <a:buNone/>
            </a:pPr>
            <a:r>
              <a:rPr b="1" lang="en-US" sz="2500">
                <a:solidFill>
                  <a:srgbClr val="1F1F1F"/>
                </a:solidFill>
                <a:highlight>
                  <a:schemeClr val="lt1"/>
                </a:highlight>
              </a:rPr>
              <a:t>Figure 4</a:t>
            </a:r>
            <a:r>
              <a:rPr lang="en-US" sz="2500">
                <a:solidFill>
                  <a:srgbClr val="1F1F1F"/>
                </a:solidFill>
                <a:highlight>
                  <a:schemeClr val="lt1"/>
                </a:highlight>
              </a:rPr>
              <a:t>: </a:t>
            </a:r>
            <a:r>
              <a:rPr lang="en-US" sz="2500">
                <a:solidFill>
                  <a:srgbClr val="1F1F1F"/>
                </a:solidFill>
                <a:highlight>
                  <a:schemeClr val="lt1"/>
                </a:highlight>
              </a:rPr>
              <a:t>Denoising evolution: StepDrop reaches semantic structure faster.</a:t>
            </a:r>
            <a:endParaRPr sz="2500">
              <a:solidFill>
                <a:srgbClr val="1F1F1F"/>
              </a:solidFill>
              <a:highlight>
                <a:schemeClr val="lt1"/>
              </a:highlight>
            </a:endParaRPr>
          </a:p>
          <a:p>
            <a:pPr indent="0" lvl="0" marL="0" rtl="0" algn="ctr">
              <a:lnSpc>
                <a:spcPct val="20000"/>
              </a:lnSpc>
              <a:spcBef>
                <a:spcPts val="2400"/>
              </a:spcBef>
              <a:spcAft>
                <a:spcPts val="2400"/>
              </a:spcAft>
              <a:buNone/>
            </a:pPr>
            <a:r>
              <a:rPr b="1" lang="en-US" sz="2500">
                <a:solidFill>
                  <a:srgbClr val="1F1F1F"/>
                </a:solidFill>
                <a:highlight>
                  <a:schemeClr val="lt1"/>
                </a:highlight>
              </a:rPr>
              <a:t>Source</a:t>
            </a:r>
            <a:r>
              <a:rPr lang="en-US" sz="2500">
                <a:solidFill>
                  <a:srgbClr val="1F1F1F"/>
                </a:solidFill>
                <a:highlight>
                  <a:schemeClr val="lt1"/>
                </a:highlight>
              </a:rPr>
              <a:t>: by the authors, 2025</a:t>
            </a:r>
            <a:endParaRPr/>
          </a:p>
        </p:txBody>
      </p:sp>
      <p:pic>
        <p:nvPicPr>
          <p:cNvPr id="61" name="Google Shape;61;g3ae57653520_2_20"/>
          <p:cNvPicPr preferRelativeResize="0"/>
          <p:nvPr/>
        </p:nvPicPr>
        <p:blipFill rotWithShape="1">
          <a:blip r:embed="rId20">
            <a:alphaModFix/>
          </a:blip>
          <a:srcRect b="3790" l="31998" r="32376" t="78625"/>
          <a:stretch/>
        </p:blipFill>
        <p:spPr>
          <a:xfrm>
            <a:off x="9724411" y="20030653"/>
            <a:ext cx="4557499" cy="1227975"/>
          </a:xfrm>
          <a:prstGeom prst="rect">
            <a:avLst/>
          </a:prstGeom>
          <a:noFill/>
          <a:ln>
            <a:noFill/>
          </a:ln>
        </p:spPr>
      </p:pic>
      <p:sp>
        <p:nvSpPr>
          <p:cNvPr id="62" name="Google Shape;62;g3ae57653520_2_20"/>
          <p:cNvSpPr/>
          <p:nvPr/>
        </p:nvSpPr>
        <p:spPr>
          <a:xfrm>
            <a:off x="40362200" y="32337375"/>
            <a:ext cx="3167100" cy="58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g3ae57653520_2_20"/>
          <p:cNvSpPr txBox="1"/>
          <p:nvPr/>
        </p:nvSpPr>
        <p:spPr>
          <a:xfrm>
            <a:off x="30567800" y="13056413"/>
            <a:ext cx="11667900" cy="646500"/>
          </a:xfrm>
          <a:prstGeom prst="rect">
            <a:avLst/>
          </a:prstGeom>
          <a:noFill/>
          <a:ln>
            <a:noFill/>
          </a:ln>
        </p:spPr>
        <p:txBody>
          <a:bodyPr anchorCtr="0" anchor="t" bIns="91425" lIns="91425" spcFirstLastPara="1" rIns="91425" wrap="square" tIns="91425">
            <a:spAutoFit/>
          </a:bodyPr>
          <a:lstStyle/>
          <a:p>
            <a:pPr indent="0" lvl="0" marL="0" rtl="0" algn="ctr">
              <a:lnSpc>
                <a:spcPct val="20000"/>
              </a:lnSpc>
              <a:spcBef>
                <a:spcPts val="2400"/>
              </a:spcBef>
              <a:spcAft>
                <a:spcPts val="0"/>
              </a:spcAft>
              <a:buNone/>
            </a:pPr>
            <a:r>
              <a:rPr b="1" lang="en-US" sz="2500">
                <a:solidFill>
                  <a:srgbClr val="1F1F1F"/>
                </a:solidFill>
                <a:highlight>
                  <a:schemeClr val="lt1"/>
                </a:highlight>
              </a:rPr>
              <a:t>Figure 5</a:t>
            </a:r>
            <a:r>
              <a:rPr lang="en-US" sz="2500">
                <a:solidFill>
                  <a:srgbClr val="1F1F1F"/>
                </a:solidFill>
                <a:highlight>
                  <a:schemeClr val="lt1"/>
                </a:highlight>
              </a:rPr>
              <a:t>: </a:t>
            </a:r>
            <a:r>
              <a:rPr lang="en-US" sz="2500">
                <a:solidFill>
                  <a:srgbClr val="1F1F1F"/>
                </a:solidFill>
                <a:highlight>
                  <a:schemeClr val="lt1"/>
                </a:highlight>
              </a:rPr>
              <a:t>StepDrop efficiency–performance tradeoff.</a:t>
            </a:r>
            <a:endParaRPr sz="2500">
              <a:solidFill>
                <a:srgbClr val="1F1F1F"/>
              </a:solidFill>
              <a:highlight>
                <a:schemeClr val="lt1"/>
              </a:highlight>
            </a:endParaRPr>
          </a:p>
          <a:p>
            <a:pPr indent="0" lvl="0" marL="0" rtl="0" algn="ctr">
              <a:lnSpc>
                <a:spcPct val="20000"/>
              </a:lnSpc>
              <a:spcBef>
                <a:spcPts val="2400"/>
              </a:spcBef>
              <a:spcAft>
                <a:spcPts val="2400"/>
              </a:spcAft>
              <a:buNone/>
            </a:pPr>
            <a:r>
              <a:rPr b="1" lang="en-US" sz="2500">
                <a:solidFill>
                  <a:srgbClr val="1F1F1F"/>
                </a:solidFill>
                <a:highlight>
                  <a:schemeClr val="lt1"/>
                </a:highlight>
              </a:rPr>
              <a:t>Source</a:t>
            </a:r>
            <a:r>
              <a:rPr lang="en-US" sz="2500">
                <a:solidFill>
                  <a:srgbClr val="1F1F1F"/>
                </a:solidFill>
                <a:highlight>
                  <a:schemeClr val="lt1"/>
                </a:highlight>
              </a:rPr>
              <a:t>: by the authors, 2025</a:t>
            </a:r>
            <a:endParaRPr/>
          </a:p>
        </p:txBody>
      </p:sp>
      <p:sp>
        <p:nvSpPr>
          <p:cNvPr id="64" name="Google Shape;64;g3ae57653520_2_20"/>
          <p:cNvSpPr txBox="1"/>
          <p:nvPr>
            <p:ph idx="13" type="body"/>
          </p:nvPr>
        </p:nvSpPr>
        <p:spPr>
          <a:xfrm>
            <a:off x="29609150" y="18228525"/>
            <a:ext cx="6443100" cy="5834400"/>
          </a:xfrm>
          <a:prstGeom prst="rect">
            <a:avLst/>
          </a:prstGeom>
          <a:noFill/>
          <a:ln>
            <a:noFill/>
          </a:ln>
        </p:spPr>
        <p:txBody>
          <a:bodyPr anchorCtr="0" anchor="t" bIns="78350" lIns="156700" spcFirstLastPara="1" rIns="156700" wrap="square" tIns="78350">
            <a:noAutofit/>
          </a:bodyPr>
          <a:lstStyle/>
          <a:p>
            <a:pPr indent="-419100" lvl="0" marL="457200" rtl="0" algn="l">
              <a:spcBef>
                <a:spcPts val="0"/>
              </a:spcBef>
              <a:spcAft>
                <a:spcPts val="0"/>
              </a:spcAft>
              <a:buSzPts val="3000"/>
              <a:buChar char="•"/>
            </a:pPr>
            <a:r>
              <a:rPr b="1" lang="en-US" sz="3000">
                <a:latin typeface="Arial"/>
                <a:ea typeface="Arial"/>
                <a:cs typeface="Arial"/>
                <a:sym typeface="Arial"/>
              </a:rPr>
              <a:t>Practical</a:t>
            </a:r>
            <a:r>
              <a:rPr lang="en-US" sz="3000">
                <a:latin typeface="Arial"/>
                <a:ea typeface="Arial"/>
                <a:cs typeface="Arial"/>
                <a:sym typeface="Arial"/>
              </a:rPr>
              <a:t>: zero-training, plug-and-play acceleration for any diffusion model; boosts edge viability and reduces serving energy.</a:t>
            </a:r>
            <a:endParaRPr sz="3000">
              <a:latin typeface="Arial"/>
              <a:ea typeface="Arial"/>
              <a:cs typeface="Arial"/>
              <a:sym typeface="Arial"/>
            </a:endParaRPr>
          </a:p>
          <a:p>
            <a:pPr indent="0" lvl="0" marL="457200" rtl="0" algn="l">
              <a:spcBef>
                <a:spcPts val="0"/>
              </a:spcBef>
              <a:spcAft>
                <a:spcPts val="0"/>
              </a:spcAft>
              <a:buNone/>
            </a:pPr>
            <a:r>
              <a:t/>
            </a:r>
            <a:endParaRPr sz="3000">
              <a:latin typeface="Arial"/>
              <a:ea typeface="Arial"/>
              <a:cs typeface="Arial"/>
              <a:sym typeface="Arial"/>
            </a:endParaRPr>
          </a:p>
          <a:p>
            <a:pPr indent="-419100" lvl="0" marL="457200" rtl="0" algn="l">
              <a:spcBef>
                <a:spcPts val="0"/>
              </a:spcBef>
              <a:spcAft>
                <a:spcPts val="0"/>
              </a:spcAft>
              <a:buSzPts val="3000"/>
              <a:buChar char="•"/>
            </a:pPr>
            <a:r>
              <a:rPr b="1" lang="en-US" sz="3000">
                <a:latin typeface="Arial"/>
                <a:ea typeface="Arial"/>
                <a:cs typeface="Arial"/>
                <a:sym typeface="Arial"/>
              </a:rPr>
              <a:t>Future</a:t>
            </a:r>
            <a:r>
              <a:rPr lang="en-US" sz="3000">
                <a:latin typeface="Arial"/>
                <a:ea typeface="Arial"/>
                <a:cs typeface="Arial"/>
                <a:sym typeface="Arial"/>
              </a:rPr>
              <a:t>: extend to latent diffusion, build adaptive kernels, and reduce the ~3× memory overhead from precomputed timestep schedules</a:t>
            </a:r>
            <a:endParaRPr sz="3000">
              <a:latin typeface="Arial"/>
              <a:ea typeface="Arial"/>
              <a:cs typeface="Arial"/>
              <a:sym typeface="Arial"/>
            </a:endParaRPr>
          </a:p>
        </p:txBody>
      </p:sp>
      <p:sp>
        <p:nvSpPr>
          <p:cNvPr id="65" name="Google Shape;65;g3ae57653520_2_20"/>
          <p:cNvSpPr txBox="1"/>
          <p:nvPr/>
        </p:nvSpPr>
        <p:spPr>
          <a:xfrm>
            <a:off x="29609150" y="24519750"/>
            <a:ext cx="6549900" cy="646500"/>
          </a:xfrm>
          <a:prstGeom prst="rect">
            <a:avLst/>
          </a:prstGeom>
          <a:noFill/>
          <a:ln>
            <a:noFill/>
          </a:ln>
        </p:spPr>
        <p:txBody>
          <a:bodyPr anchorCtr="0" anchor="t" bIns="91425" lIns="91425" spcFirstLastPara="1" rIns="91425" wrap="square" tIns="91425">
            <a:spAutoFit/>
          </a:bodyPr>
          <a:lstStyle/>
          <a:p>
            <a:pPr indent="0" lvl="0" marL="0" rtl="0" algn="ctr">
              <a:lnSpc>
                <a:spcPct val="20000"/>
              </a:lnSpc>
              <a:spcBef>
                <a:spcPts val="2400"/>
              </a:spcBef>
              <a:spcAft>
                <a:spcPts val="0"/>
              </a:spcAft>
              <a:buNone/>
            </a:pPr>
            <a:r>
              <a:rPr b="1" lang="en-US" sz="2500">
                <a:solidFill>
                  <a:srgbClr val="1F1F1F"/>
                </a:solidFill>
                <a:highlight>
                  <a:schemeClr val="lt1"/>
                </a:highlight>
              </a:rPr>
              <a:t>Figure 6</a:t>
            </a:r>
            <a:r>
              <a:rPr lang="en-US" sz="2500">
                <a:solidFill>
                  <a:srgbClr val="1F1F1F"/>
                </a:solidFill>
                <a:highlight>
                  <a:schemeClr val="lt1"/>
                </a:highlight>
              </a:rPr>
              <a:t>:Strategies generation </a:t>
            </a:r>
            <a:r>
              <a:rPr lang="en-US" sz="2500">
                <a:solidFill>
                  <a:srgbClr val="1F1F1F"/>
                </a:solidFill>
                <a:highlight>
                  <a:schemeClr val="lt1"/>
                </a:highlight>
              </a:rPr>
              <a:t>comparison</a:t>
            </a:r>
            <a:r>
              <a:rPr lang="en-US" sz="2500">
                <a:solidFill>
                  <a:srgbClr val="1F1F1F"/>
                </a:solidFill>
                <a:highlight>
                  <a:schemeClr val="lt1"/>
                </a:highlight>
              </a:rPr>
              <a:t>.</a:t>
            </a:r>
            <a:endParaRPr sz="2500">
              <a:solidFill>
                <a:srgbClr val="1F1F1F"/>
              </a:solidFill>
              <a:highlight>
                <a:schemeClr val="lt1"/>
              </a:highlight>
            </a:endParaRPr>
          </a:p>
          <a:p>
            <a:pPr indent="0" lvl="0" marL="0" rtl="0" algn="ctr">
              <a:lnSpc>
                <a:spcPct val="20000"/>
              </a:lnSpc>
              <a:spcBef>
                <a:spcPts val="2400"/>
              </a:spcBef>
              <a:spcAft>
                <a:spcPts val="2400"/>
              </a:spcAft>
              <a:buNone/>
            </a:pPr>
            <a:r>
              <a:rPr b="1" lang="en-US" sz="2500">
                <a:solidFill>
                  <a:srgbClr val="1F1F1F"/>
                </a:solidFill>
                <a:highlight>
                  <a:schemeClr val="lt1"/>
                </a:highlight>
              </a:rPr>
              <a:t>Source</a:t>
            </a:r>
            <a:r>
              <a:rPr lang="en-US" sz="2500">
                <a:solidFill>
                  <a:srgbClr val="1F1F1F"/>
                </a:solidFill>
                <a:highlight>
                  <a:schemeClr val="lt1"/>
                </a:highlight>
              </a:rPr>
              <a:t>: by the authors, 2025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2013-01-28T22:40:39Z</dcterms:created>
  <dc:creator>Daniel Viens</dc:creator>
</cp:coreProperties>
</file>